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90" r:id="rId27"/>
    <p:sldId id="278" r:id="rId28"/>
    <p:sldId id="279" r:id="rId29"/>
    <p:sldId id="291" r:id="rId30"/>
    <p:sldId id="292" r:id="rId31"/>
    <p:sldId id="280" r:id="rId32"/>
    <p:sldId id="281" r:id="rId33"/>
    <p:sldId id="294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notesSlide" Target="../notesSlides/notesSlide35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91440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762000" y="2286000"/>
            <a:ext cx="1016000" cy="508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4" name="Text 2"/>
          <p:cNvSpPr/>
          <p:nvPr/>
        </p:nvSpPr>
        <p:spPr>
          <a:xfrm>
            <a:off x="762000" y="2540000"/>
            <a:ext cx="82296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Tokens to Thoughts:</a:t>
            </a:r>
            <a:endParaRPr lang="en-US" sz="3400" dirty="0"/>
          </a:p>
          <a:p>
            <a:pPr algn="l">
              <a:lnSpc>
                <a:spcPct val="140000"/>
              </a:lnSpc>
            </a:pPr>
            <a:r>
              <a:rPr lang="en-US" sz="3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LLMs and Humans Trade</a:t>
            </a:r>
            <a:endParaRPr lang="en-US" sz="3400" dirty="0"/>
          </a:p>
          <a:p>
            <a:pPr algn="l">
              <a:lnSpc>
                <a:spcPct val="140000"/>
              </a:lnSpc>
            </a:pPr>
            <a:r>
              <a:rPr lang="en-US" sz="3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Compression for Meaning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82296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复现报告 | 信息论视角下的概念对齐分析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0" y="3012440"/>
            <a:ext cx="4978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0" y="4394200"/>
            <a:ext cx="49784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课程大作业答辩</a:t>
            </a:r>
            <a:endParaRPr lang="en-US" sz="1600" dirty="0">
              <a:solidFill>
                <a:srgbClr val="1A1D23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20000"/>
              </a:lnSpc>
            </a:pPr>
            <a:endParaRPr lang="en-US" sz="1600" dirty="0"/>
          </a:p>
          <a:p>
            <a:pPr algn="l">
              <a:lnSpc>
                <a:spcPct val="120000"/>
              </a:lnSpc>
            </a:pPr>
            <a:r>
              <a:rPr lang="zh-CN" altLang="en-US" sz="1600" dirty="0"/>
              <a:t>组员</a:t>
            </a:r>
            <a:r>
              <a:rPr lang="en-US" altLang="zh-CN" sz="1600" dirty="0"/>
              <a:t>(</a:t>
            </a:r>
            <a:r>
              <a:rPr lang="zh-CN" altLang="en-US" sz="1600" dirty="0"/>
              <a:t>按姓名拼音排序，</a:t>
            </a:r>
            <a:r>
              <a:rPr lang="en-US" altLang="zh-CN" sz="1600" dirty="0"/>
              <a:t> </a:t>
            </a:r>
            <a:r>
              <a:rPr lang="zh-CN" altLang="en-US" sz="1600" dirty="0"/>
              <a:t>不分先后</a:t>
            </a:r>
            <a:r>
              <a:rPr lang="en-US" altLang="zh-CN" sz="1600" dirty="0"/>
              <a:t>)</a:t>
            </a:r>
            <a:r>
              <a:rPr lang="zh-CN" altLang="en-US" sz="1600" dirty="0"/>
              <a:t>：蔡俊煜</a:t>
            </a:r>
            <a:r>
              <a:rPr lang="en-US" altLang="zh-CN" sz="1600" dirty="0"/>
              <a:t> </a:t>
            </a:r>
            <a:r>
              <a:rPr lang="zh-CN" altLang="en-US" sz="1600" dirty="0"/>
              <a:t>，马文茵，</a:t>
            </a:r>
            <a:r>
              <a:rPr lang="zh-CN" altLang="en-US" sz="1600" dirty="0"/>
              <a:t>吴润宇</a:t>
            </a:r>
            <a:endParaRPr lang="zh-CN" alt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0" y="5080000"/>
            <a:ext cx="1524000" cy="254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9" name="Text 7"/>
          <p:cNvSpPr/>
          <p:nvPr/>
        </p:nvSpPr>
        <p:spPr>
          <a:xfrm>
            <a:off x="10515600" y="5750560"/>
            <a:ext cx="49784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关键词：信息论 · 率失真理论 · 信息瓶颈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大语言模型 · 概念对齐 · 压缩-意义权衡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范畴对齐 · 典型性结构 · 互信息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9144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3" name="Text 1"/>
          <p:cNvSpPr/>
          <p:nvPr/>
        </p:nvSpPr>
        <p:spPr>
          <a:xfrm>
            <a:off x="508000" y="3556000"/>
            <a:ext cx="4572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kern="0" spc="600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8000" y="4445000"/>
            <a:ext cx="254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汇报提纲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8000" y="5080000"/>
            <a:ext cx="762000" cy="381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6" name="Text 4"/>
          <p:cNvSpPr/>
          <p:nvPr/>
        </p:nvSpPr>
        <p:spPr>
          <a:xfrm>
            <a:off x="5842000" y="22860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31000" y="2286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31000" y="2730500"/>
            <a:ext cx="863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LLM概念表示、压缩-意义权衡、三个核心研究问题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42000" y="3302000"/>
            <a:ext cx="9652000" cy="127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0" name="Text 8"/>
          <p:cNvSpPr/>
          <p:nvPr/>
        </p:nvSpPr>
        <p:spPr>
          <a:xfrm>
            <a:off x="5842000" y="38100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731000" y="3810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31000" y="4254500"/>
            <a:ext cx="863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基准数据集、模型选择、嵌入提取方法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42000" y="4826000"/>
            <a:ext cx="9652000" cy="127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4" name="Text 12"/>
          <p:cNvSpPr/>
          <p:nvPr/>
        </p:nvSpPr>
        <p:spPr>
          <a:xfrm>
            <a:off x="5842000" y="53340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31000" y="5334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31000" y="5778500"/>
            <a:ext cx="863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RDT、信息瓶颈、L目标函数、Complexity与Distortion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42000" y="6350000"/>
            <a:ext cx="9652000" cy="127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8" name="Text 16"/>
          <p:cNvSpPr/>
          <p:nvPr/>
        </p:nvSpPr>
        <p:spPr>
          <a:xfrm>
            <a:off x="5842000" y="68580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31000" y="6858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31000" y="7302500"/>
            <a:ext cx="863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RQ1/RQ2/RQ3实验结果、交叉分析、与论文结论对比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52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01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762000" cy="381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5" name="Text 3"/>
          <p:cNvSpPr/>
          <p:nvPr/>
        </p:nvSpPr>
        <p:spPr>
          <a:xfrm>
            <a:off x="762000" y="4572000"/>
            <a:ext cx="889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2000" y="5461000"/>
            <a:ext cx="1016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探究 LLM 与人类在概念表示上的根本差异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研究背景：压缩与意义的权衡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460500"/>
            <a:ext cx="14732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人类擅长将知识组织成</a:t>
            </a:r>
            <a:r>
              <a:rPr lang="en-US" sz="18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紧凑的概念类别</a:t>
            </a:r>
            <a:r>
              <a:rPr lang="en-US" sz="18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，在压缩与语义丰富性之间取得平衡。例如，"鸟"这个词压缩了数千物种的信息，同时保留了关键语义属性（能飞、有羽毛、产卵）。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大语言模型（LLM）展现出强大的语言能力，但是否以与人类</a:t>
            </a:r>
            <a:r>
              <a:rPr lang="en-US" sz="18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相同的方式</a:t>
            </a:r>
            <a:r>
              <a:rPr lang="en-US" sz="18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处理压缩-意义权衡尚不清楚。核心问题：</a:t>
            </a:r>
            <a:r>
              <a:rPr lang="en-US" sz="18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是否为了统计效率而牺牲了语义丰富性？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683000"/>
            <a:ext cx="14732000" cy="1016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2" name="Shape 10"/>
          <p:cNvSpPr/>
          <p:nvPr/>
        </p:nvSpPr>
        <p:spPr>
          <a:xfrm>
            <a:off x="762000" y="3683000"/>
            <a:ext cx="50800" cy="10160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13" name="Text 11"/>
          <p:cNvSpPr/>
          <p:nvPr/>
        </p:nvSpPr>
        <p:spPr>
          <a:xfrm>
            <a:off x="1016000" y="3784600"/>
            <a:ext cx="14224000" cy="812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研究方法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：引入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Rate-Distortion Theory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（Shannon, 1948）和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Bottleneck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（Tishby et al., 2000）框架，系统比较 LLM 和人类的概念结构。分析 40+ 个 diverse LLM 的嵌入，对照经典认知心理学基准数据集。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953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核心发现预览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5461000"/>
            <a:ext cx="4572000" cy="1651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6" name="Shape 14"/>
          <p:cNvSpPr/>
          <p:nvPr/>
        </p:nvSpPr>
        <p:spPr>
          <a:xfrm>
            <a:off x="762000" y="5461000"/>
            <a:ext cx="50800" cy="1651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7" name="Text 15"/>
          <p:cNvSpPr/>
          <p:nvPr/>
        </p:nvSpPr>
        <p:spPr>
          <a:xfrm>
            <a:off x="965200" y="5562600"/>
            <a:ext cx="4191000" cy="144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范畴边界对齐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能捕捉人类类别边界，但在细粒度语义区分（如典型性）上表现不足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88000" y="5461000"/>
            <a:ext cx="4572000" cy="1651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9" name="Shape 17"/>
          <p:cNvSpPr/>
          <p:nvPr/>
        </p:nvSpPr>
        <p:spPr>
          <a:xfrm>
            <a:off x="5588000" y="5461000"/>
            <a:ext cx="50800" cy="1651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20" name="Text 18"/>
          <p:cNvSpPr/>
          <p:nvPr/>
        </p:nvSpPr>
        <p:spPr>
          <a:xfrm>
            <a:off x="5791200" y="5562600"/>
            <a:ext cx="4191000" cy="144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统计效率 vs 语义丰富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实现数学上"最优"的压缩-失真权衡，人类类别则看似次优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414000" y="5461000"/>
            <a:ext cx="5080000" cy="1651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22" name="Shape 20"/>
          <p:cNvSpPr/>
          <p:nvPr/>
        </p:nvSpPr>
        <p:spPr>
          <a:xfrm>
            <a:off x="10414000" y="5461000"/>
            <a:ext cx="50800" cy="16510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3" name="Text 21"/>
          <p:cNvSpPr/>
          <p:nvPr/>
        </p:nvSpPr>
        <p:spPr>
          <a:xfrm>
            <a:off x="10617200" y="5562600"/>
            <a:ext cx="4699000" cy="144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架构差异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编码器模型在人对齐上优于大得多的解码器模型，暗示理解和生成需要不同的表示策略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28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三个核心研究问题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762000" y="1524000"/>
            <a:ext cx="14732000" cy="1778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1" name="Shape 9"/>
          <p:cNvSpPr/>
          <p:nvPr/>
        </p:nvSpPr>
        <p:spPr>
          <a:xfrm>
            <a:off x="762000" y="1524000"/>
            <a:ext cx="50800" cy="1778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2" name="Text 10"/>
          <p:cNvSpPr/>
          <p:nvPr/>
        </p:nvSpPr>
        <p:spPr>
          <a:xfrm>
            <a:off x="1016000" y="16256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32000" y="162560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范畴对齐（Categorical Alignment）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" y="2006600"/>
            <a:ext cx="14224000" cy="121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问题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：LLM 涌现的概念在多大程度上与人类定义的类别对齐？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：信息如何被压缩成离散组 —— 检查 LLM 是否将 1,049 个项目组织成类似于人类概念结构的类别。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指标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：AMI（调整互信息），衡量聚类结果与人类标签的对齐程度。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657600"/>
            <a:ext cx="14732000" cy="1778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6" name="Shape 14"/>
          <p:cNvSpPr/>
          <p:nvPr/>
        </p:nvSpPr>
        <p:spPr>
          <a:xfrm>
            <a:off x="762000" y="3657600"/>
            <a:ext cx="50800" cy="1778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7" name="Text 15"/>
          <p:cNvSpPr/>
          <p:nvPr/>
        </p:nvSpPr>
        <p:spPr>
          <a:xfrm>
            <a:off x="1016000" y="37592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32000" y="375920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典型性结构（Internal Semantic Structure）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6000" y="4165600"/>
            <a:ext cx="14224000" cy="121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问题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：LLM 是否表现出人类般的内部结构，特别是项目典型性？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：语义意义如何在类别内被保留 —— 检查典型项目（如知更鸟）是否比非典型项目（如企鹅）更"鸟"。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指标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：Spearman 秩相关系数 ρ，衡量嵌入相似度与人类典型性评分的一致性。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816600"/>
            <a:ext cx="14732000" cy="1778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21" name="Shape 19"/>
          <p:cNvSpPr/>
          <p:nvPr/>
        </p:nvSpPr>
        <p:spPr>
          <a:xfrm>
            <a:off x="762000" y="5816600"/>
            <a:ext cx="50800" cy="17780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2" name="Text 20"/>
          <p:cNvSpPr/>
          <p:nvPr/>
        </p:nvSpPr>
        <p:spPr>
          <a:xfrm>
            <a:off x="1016000" y="59182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32000" y="591820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压缩-意义权衡（Compression-Meaning Trade-off）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6000" y="6324600"/>
            <a:ext cx="14224000" cy="121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问题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：人类和 LLM 在平衡压缩与语义保真度方面有何不同？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：通过变化 K（聚类数）和计算 L 曲线，揭示系统优先级 —— 激进压缩 vs 语义丰富保留。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指标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：L 目标函数 = Complexity + β·Distortion，量化压缩与语义相干性的权衡。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28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52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02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762000" cy="381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5" name="Text 3"/>
          <p:cNvSpPr/>
          <p:nvPr/>
        </p:nvSpPr>
        <p:spPr>
          <a:xfrm>
            <a:off x="762000" y="4572000"/>
            <a:ext cx="889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2000" y="5461000"/>
            <a:ext cx="1016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基准数据集、模型选择与嵌入提取方法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人类认知基准数据集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397000"/>
            <a:ext cx="14732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三个经典认知心理学实验数据，总计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1,049 个项目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 个类别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，包含成员资格和典型性评分。这些数据经过专家精心策划， capturing deep cognitive patterns。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762000" y="2222500"/>
          <a:ext cx="14732000" cy="3051048"/>
        </p:xfrm>
        <a:graphic>
          <a:graphicData uri="http://schemas.openxmlformats.org/drawingml/2006/table">
            <a:tbl>
              <a:tblPr/>
              <a:tblGrid>
                <a:gridCol w="2651760"/>
                <a:gridCol w="1767840"/>
                <a:gridCol w="1767840"/>
                <a:gridCol w="854456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数据集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项目数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类别数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特点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</a:tr>
              <a:tr h="8442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Rosch (1973)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48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原型理论的基础工作，包含原型性排序（如"知更鸟"为典型鸟，"蝙蝠"为非典型）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42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Rosch (1975)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552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扩展原型理论，提供典型性评分（如"橙子"为原型水果，"南瓜"则不然）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8442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McCloskey &amp; Glucksberg (1978)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449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18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调查自然类别的"模糊"边界，成员资格是渐进的而非绝对的，含典型性分数和成员确定性评分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5588000"/>
            <a:ext cx="14732000" cy="1016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3" name="Shape 10"/>
          <p:cNvSpPr/>
          <p:nvPr/>
        </p:nvSpPr>
        <p:spPr>
          <a:xfrm>
            <a:off x="762000" y="5588000"/>
            <a:ext cx="50800" cy="10160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14" name="Text 11"/>
          <p:cNvSpPr/>
          <p:nvPr/>
        </p:nvSpPr>
        <p:spPr>
          <a:xfrm>
            <a:off x="1016000" y="5689600"/>
            <a:ext cx="14224000" cy="838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数据特点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：所有数据集共享严格的实验设计，提供类别分配和项目典型性两方面数据。本文将这些数据数字化并公开发布，为评估 LLM 的人类相似性提供高质量的实证基础。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28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模型选择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397000"/>
            <a:ext cx="14732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分析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40+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个 diverse LLM，跨越多种架构和规模（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300M 到 72B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参数），目标是解耦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架构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、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规模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和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训练目标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的影响。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22225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三大架构范式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2000" y="2667000"/>
            <a:ext cx="4699000" cy="2222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3" name="Shape 11"/>
          <p:cNvSpPr/>
          <p:nvPr/>
        </p:nvSpPr>
        <p:spPr>
          <a:xfrm>
            <a:off x="762000" y="2667000"/>
            <a:ext cx="50800" cy="22225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4" name="Text 12"/>
          <p:cNvSpPr/>
          <p:nvPr/>
        </p:nvSpPr>
        <p:spPr>
          <a:xfrm>
            <a:off x="965200" y="2768600"/>
            <a:ext cx="4318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Encoder 模型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BERT 系列（Devlin et al., 2019）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RoBERTa、DeBERTa</a:t>
            </a:r>
            <a:endParaRPr lang="en-US" sz="1400" dirty="0"/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训练目标：表示学习（理解）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15000" y="2667000"/>
            <a:ext cx="4699000" cy="2222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6" name="Shape 14"/>
          <p:cNvSpPr/>
          <p:nvPr/>
        </p:nvSpPr>
        <p:spPr>
          <a:xfrm>
            <a:off x="5715000" y="2667000"/>
            <a:ext cx="50800" cy="22225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7" name="Text 15"/>
          <p:cNvSpPr/>
          <p:nvPr/>
        </p:nvSpPr>
        <p:spPr>
          <a:xfrm>
            <a:off x="5918200" y="2768600"/>
            <a:ext cx="4318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Decoder 模型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Gemma（2B-9B）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Qwen（0.5B-32B）、Phi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GPT-2</a:t>
            </a:r>
            <a:endParaRPr lang="en-US" sz="1400" dirty="0"/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训练目标：下一词预测（生成）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668000" y="2667000"/>
            <a:ext cx="4826000" cy="2222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9" name="Shape 17"/>
          <p:cNvSpPr/>
          <p:nvPr/>
        </p:nvSpPr>
        <p:spPr>
          <a:xfrm>
            <a:off x="10668000" y="2667000"/>
            <a:ext cx="50800" cy="22225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0" name="Text 18"/>
          <p:cNvSpPr/>
          <p:nvPr/>
        </p:nvSpPr>
        <p:spPr>
          <a:xfrm>
            <a:off x="10871200" y="2768600"/>
            <a:ext cx="4445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经典静态嵌入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Word2Vec（Mikolov et al., 2013）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GloVe（Pennington et al., 2014）</a:t>
            </a:r>
            <a:endParaRPr lang="en-US" sz="1400" dirty="0"/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作为基线模型，仅静态嵌入，早于现代架构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5207000"/>
            <a:ext cx="14732000" cy="9906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22" name="Shape 20"/>
          <p:cNvSpPr/>
          <p:nvPr/>
        </p:nvSpPr>
        <p:spPr>
          <a:xfrm>
            <a:off x="762000" y="5207000"/>
            <a:ext cx="50800" cy="9906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23" name="Text 21"/>
          <p:cNvSpPr/>
          <p:nvPr/>
        </p:nvSpPr>
        <p:spPr>
          <a:xfrm>
            <a:off x="1016000" y="5308600"/>
            <a:ext cx="14224000" cy="838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关键设计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：Encoder-only 模型在最近的 LLM 开发中较少被关注（规模也较小），因为当前 LLM 发展优先选择了 decoder-only 架构。本文的分析需要访问 LLM 的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嵌入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而非仅输出，因此无法使用 GPT-5、Claude 等闭源前沿模型。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28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嵌入提取与实验流程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4224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两个提取层级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2000" y="1841500"/>
            <a:ext cx="7175500" cy="1397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2" name="Shape 10"/>
          <p:cNvSpPr/>
          <p:nvPr/>
        </p:nvSpPr>
        <p:spPr>
          <a:xfrm>
            <a:off x="762000" y="1841500"/>
            <a:ext cx="50800" cy="1397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3" name="Text 11"/>
          <p:cNvSpPr/>
          <p:nvPr/>
        </p:nvSpPr>
        <p:spPr>
          <a:xfrm>
            <a:off x="965200" y="1930400"/>
            <a:ext cx="6794500" cy="121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静态嵌入（输入层 E 矩阵）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捕获上下文无关的词汇知识，直接与人类分类实验中的孤立词比较。代表概念的基本词汇层面。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91500" y="1841500"/>
            <a:ext cx="7302500" cy="1397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5" name="Shape 13"/>
          <p:cNvSpPr/>
          <p:nvPr/>
        </p:nvSpPr>
        <p:spPr>
          <a:xfrm>
            <a:off x="8191500" y="1841500"/>
            <a:ext cx="50800" cy="1397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6" name="Text 14"/>
          <p:cNvSpPr/>
          <p:nvPr/>
        </p:nvSpPr>
        <p:spPr>
          <a:xfrm>
            <a:off x="8394700" y="1930400"/>
            <a:ext cx="6921500" cy="121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上下文嵌入（所有隐藏层）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使用受控提示词揭示上下文如何塑造概念结构。逐层测量以识别概念对齐的峰值层。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2000" y="35306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实验流程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62000" y="3937000"/>
            <a:ext cx="14732000" cy="1016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9" name="Text 17"/>
          <p:cNvSpPr/>
          <p:nvPr/>
        </p:nvSpPr>
        <p:spPr>
          <a:xfrm>
            <a:off x="1016000" y="4038600"/>
            <a:ext cx="142240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人类数据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：收集典型性评分 →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模型数据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：提取嵌入并计算相似度 →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三个指标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：RQ1(MI) / RQ2(Spearman) / RQ3(Rate-Distortion)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聚类：k-means（K = 人类类别数）| 提示模板："This is a {word}. " | 池化：平均池化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2000" y="52705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鲁棒性控制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62000" y="5689600"/>
            <a:ext cx="14732000" cy="1587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22" name="Text 20"/>
          <p:cNvSpPr/>
          <p:nvPr/>
        </p:nvSpPr>
        <p:spPr>
          <a:xfrm>
            <a:off x="1016000" y="5791200"/>
            <a:ext cx="14224000" cy="142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池化策略鲁棒性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：比较 Avg / First / Last / SentenceAvg，平均池化最一致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聚类种子鲁棒性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：AMI 在多种随机初始化下高度稳定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词汇歧义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：量化多义词（polysemy），发现多数项目歧义少，不影响结论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28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 方法：k-means 聚类与 AMI 评估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762000" y="1422400"/>
            <a:ext cx="14732000" cy="635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1" name="Shape 9"/>
          <p:cNvSpPr/>
          <p:nvPr/>
        </p:nvSpPr>
        <p:spPr>
          <a:xfrm>
            <a:off x="762000" y="1422400"/>
            <a:ext cx="50800" cy="635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2" name="Text 10"/>
          <p:cNvSpPr/>
          <p:nvPr/>
        </p:nvSpPr>
        <p:spPr>
          <a:xfrm>
            <a:off x="1016000" y="1498600"/>
            <a:ext cx="1422400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目标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：检验 LLM 嵌入空间的聚类结构是否与人类定义的概念类别一致。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输入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：~200 个概念的静态嵌入 e</a:t>
            </a:r>
            <a:r>
              <a:rPr lang="en-US" sz="15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∈ R</a:t>
            </a:r>
            <a:r>
              <a:rPr lang="en-US" sz="1500" baseline="3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，分属 k</a:t>
            </a:r>
            <a:r>
              <a:rPr lang="en-US" sz="15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18 个类别。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2000" y="2286000"/>
            <a:ext cx="4572000" cy="254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762000" y="2286000"/>
            <a:ext cx="50800" cy="2540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5" name="Text 13"/>
          <p:cNvSpPr/>
          <p:nvPr/>
        </p:nvSpPr>
        <p:spPr>
          <a:xfrm>
            <a:off x="965200" y="23876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32000" y="23876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加载嵌入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" y="2768600"/>
            <a:ext cx="416560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从模型提取静态嵌入矩阵 E ∈ R</a:t>
            </a:r>
            <a:r>
              <a:rPr lang="en-US" sz="1400" baseline="3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n×d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 ≈ 200 个概念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 为嵌入维度（50~7168）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通过对最后一层所有子词 token 做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平均池化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得到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McCloskey1978 数据集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61000" y="3429000"/>
            <a:ext cx="254000" cy="25400"/>
          </a:xfrm>
          <a:prstGeom prst="rect">
            <a:avLst/>
          </a:prstGeom>
          <a:solidFill>
            <a:srgbClr val="7A8B9E"/>
          </a:solidFill>
        </p:spPr>
      </p:sp>
      <p:sp>
        <p:nvSpPr>
          <p:cNvPr id="19" name="Shape 17"/>
          <p:cNvSpPr/>
          <p:nvPr/>
        </p:nvSpPr>
        <p:spPr>
          <a:xfrm>
            <a:off x="5842000" y="2286000"/>
            <a:ext cx="4572000" cy="273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5842000" y="2286000"/>
            <a:ext cx="50800" cy="27305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21" name="Text 19"/>
          <p:cNvSpPr/>
          <p:nvPr/>
        </p:nvSpPr>
        <p:spPr>
          <a:xfrm>
            <a:off x="6045200" y="23876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12000" y="23876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聚类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21"/>
              <p:cNvSpPr/>
              <p:nvPr/>
            </p:nvSpPr>
            <p:spPr>
              <a:xfrm>
                <a:off x="6045200" y="2768600"/>
                <a:ext cx="4165600" cy="2159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scikit-learn KMeans，n</a:t>
                </a:r>
                <a:r>
                  <a:rPr lang="en-US" sz="1400" baseline="-400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init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100：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100 次随机初始化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取惯性最小结果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K = k</a:t>
                </a:r>
                <a:r>
                  <a:rPr lang="en-US" sz="1400" baseline="-400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human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18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目标：最小化簇内平方和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𝑚𝑖𝑛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sSubSup>
                        <m:sSubSup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sup>
                      </m:sSubSup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∥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𝑒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𝜇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∥</m:t>
                          </m:r>
                        </m:e>
                        <m:sup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3" name="Tex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200" y="2768600"/>
                <a:ext cx="4165600" cy="2159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22"/>
          <p:cNvSpPr/>
          <p:nvPr/>
        </p:nvSpPr>
        <p:spPr>
          <a:xfrm>
            <a:off x="10541000" y="3429000"/>
            <a:ext cx="254000" cy="25400"/>
          </a:xfrm>
          <a:prstGeom prst="rect">
            <a:avLst/>
          </a:prstGeom>
          <a:solidFill>
            <a:srgbClr val="7A8B9E"/>
          </a:solidFill>
        </p:spPr>
      </p:sp>
      <p:sp>
        <p:nvSpPr>
          <p:cNvPr id="25" name="Shape 23"/>
          <p:cNvSpPr/>
          <p:nvPr/>
        </p:nvSpPr>
        <p:spPr>
          <a:xfrm>
            <a:off x="10922000" y="2286000"/>
            <a:ext cx="4572000" cy="273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10922000" y="2286000"/>
            <a:ext cx="50800" cy="27305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7" name="Text 25"/>
          <p:cNvSpPr/>
          <p:nvPr/>
        </p:nvSpPr>
        <p:spPr>
          <a:xfrm>
            <a:off x="11125200" y="23876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192000" y="23876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评估对齐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25200" y="2768600"/>
            <a:ext cx="41656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聚类标签 ŷ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人类标签 y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计算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AMI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（调整互信息）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同时计算 NMI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输出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：每个模型 × 数据集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AMI ∈ [0, 1]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= 完全一致，0 = 随机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5143500"/>
            <a:ext cx="14732000" cy="6985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1" name="Text 29"/>
          <p:cNvSpPr/>
          <p:nvPr/>
        </p:nvSpPr>
        <p:spPr>
          <a:xfrm>
            <a:off x="1016000" y="52324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核心逻辑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：若 LLM 嵌入空间与人类概念结构对齐，则 k-means 聚类结果应还原人类定义的 18 个类别边界 → AMI 显著高于随机。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62000" y="6159500"/>
            <a:ext cx="14732000" cy="2286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33" name="Shape 31"/>
          <p:cNvSpPr/>
          <p:nvPr/>
        </p:nvSpPr>
        <p:spPr>
          <a:xfrm>
            <a:off x="762000" y="6159500"/>
            <a:ext cx="50800" cy="22860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4" name="Text 32"/>
          <p:cNvSpPr/>
          <p:nvPr/>
        </p:nvSpPr>
        <p:spPr>
          <a:xfrm>
            <a:off x="1016000" y="6261100"/>
            <a:ext cx="14224000" cy="2082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信息论视角：数据处理不等式（DPI）的约束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本实验涉及马尔可夫链：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原始文本 → LLM 嵌入 → k-means 聚类 → 类别标签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DPI 保证：I(原始文本; 类别标签) ≥ I(嵌入; 类别标签) ≥ I(聚类; 类别标签)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聚类过程只会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丢失信息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而不会增加信息。这正是 RQ3 的核心：在压缩（通过 k-means 减少信息量）和保留意义（保留对分类有用的信息）之间取得平衡。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AMI 的严格推导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4224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1：互信息 MI(U,V)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2000" y="1803400"/>
            <a:ext cx="14732000" cy="1270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2" name="Shape 10"/>
          <p:cNvSpPr/>
          <p:nvPr/>
        </p:nvSpPr>
        <p:spPr>
          <a:xfrm>
            <a:off x="762000" y="1803400"/>
            <a:ext cx="50800" cy="1270000"/>
          </a:xfrm>
          <a:prstGeom prst="rect">
            <a:avLst/>
          </a:prstGeom>
          <a:solidFill>
            <a:srgbClr val="B85450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1016000" y="1879600"/>
                <a:ext cx="14224000" cy="11176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给定 n 个样本，聚类结果 U 有 r 个簇、真实标签 V 有 c 个类别。构造列联表 n</a:t>
                </a:r>
                <a:r>
                  <a:rPr lang="en-US" sz="1400" baseline="-400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ij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，经验概率：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𝑝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𝑖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𝑗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 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𝑝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𝑈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𝑖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 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𝑝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𝑉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𝑗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𝑀𝐼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𝑈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𝑉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Sup>
                        <m:sSubSup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𝑟</m:t>
                          </m:r>
                        </m:sup>
                      </m:sSubSup>
                      <m:sSubSup>
                        <m:sSubSup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𝑗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</m:sup>
                      </m:sSubSup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𝑙𝑜𝑔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⋅</m:t>
                          </m:r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num>
                        <m:den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1879600"/>
                <a:ext cx="14224000" cy="1117600"/>
              </a:xfrm>
              <a:prstGeom prst="rect">
                <a:avLst/>
              </a:prstGeom>
              <a:blipFill rotWithShape="1">
                <a:blip r:embed="rId1"/>
                <a:stretch>
                  <a:fillRect b="-34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762000" y="31496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2：MI 的缺陷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2000" y="3530600"/>
            <a:ext cx="14732000" cy="825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762000" y="3530600"/>
            <a:ext cx="50800" cy="8255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7" name="Text 15"/>
          <p:cNvSpPr/>
          <p:nvPr/>
        </p:nvSpPr>
        <p:spPr>
          <a:xfrm>
            <a:off x="1016000" y="3606800"/>
            <a:ext cx="14224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即使 U 和 V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完全独立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（随机分类），由于有限样本效应，E[MI] &gt; 0。随机分类也能得到正值的 MI——需要校正。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45720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3：AMI 校正公式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032000" y="4953000"/>
            <a:ext cx="12192000" cy="698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20" name="Shape 18"/>
          <p:cNvSpPr/>
          <p:nvPr/>
        </p:nvSpPr>
        <p:spPr>
          <a:xfrm>
            <a:off x="2032000" y="4953000"/>
            <a:ext cx="50800" cy="698500"/>
          </a:xfrm>
          <a:prstGeom prst="rect">
            <a:avLst/>
          </a:prstGeom>
          <a:solidFill>
            <a:srgbClr val="B85450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/>
              <p:nvPr/>
            </p:nvSpPr>
            <p:spPr>
              <a:xfrm>
                <a:off x="2349500" y="5029200"/>
                <a:ext cx="11557000" cy="5334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𝐴𝑀𝐼</m:t>
                      </m:r>
                      <m:r>
                        <a:rPr lang="en-US" sz="18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𝑀𝐼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𝑈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,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𝑉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𝐸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[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𝑀𝐼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𝑈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,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𝑉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]</m:t>
                          </m:r>
                        </m:num>
                        <m:den>
                          <m:f>
                            <m:fPr>
                              <m:ctrlPr>
                                <a:rPr/>
                              </m:ctrlPr>
                            </m:fPr>
                            <m:num>
                              <m:r>
                                <a:rPr lang="en-US" sz="9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9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[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𝐻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𝑈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𝐻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𝑉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]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𝐸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[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𝑀𝐼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𝑈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,</m:t>
                          </m:r>
                          <m:r>
                            <a:rPr lang="en-US" sz="13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𝑉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  <m:r>
                            <a:rPr lang="en-US" sz="13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500" y="5029200"/>
                <a:ext cx="11557000" cy="533400"/>
              </a:xfrm>
              <a:prstGeom prst="rect">
                <a:avLst/>
              </a:prstGeom>
              <a:blipFill rotWithShape="1">
                <a:blip r:embed="rId2"/>
                <a:stretch>
                  <a:fillRect t="-31905" b="-32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762000" y="5816600"/>
            <a:ext cx="7175500" cy="266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762000" y="5816600"/>
            <a:ext cx="50800" cy="2667000"/>
          </a:xfrm>
          <a:prstGeom prst="rect">
            <a:avLst/>
          </a:prstGeom>
          <a:solidFill>
            <a:srgbClr val="5A7D6F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22"/>
              <p:cNvSpPr/>
              <p:nvPr/>
            </p:nvSpPr>
            <p:spPr>
              <a:xfrm>
                <a:off x="1016000" y="5918200"/>
                <a:ext cx="6731000" cy="24892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400" b="1" dirty="0">
                    <a:solidFill>
                      <a:srgbClr val="5A7D6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分子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：MI − E[MI] —— 减去随机基线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:r>
                  <a:rPr lang="en-US" sz="1400" b="1" dirty="0">
                    <a:solidFill>
                      <a:srgbClr val="5A7D6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分母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/>
                        </m:ctrlPr>
                      </m:fPr>
                      <m:num>
                        <m:r>
                          <a:rPr lang="en-US" sz="1000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1</m:t>
                        </m:r>
                      </m:num>
                      <m:den>
                        <m:r>
                          <a:rPr lang="en-US" sz="1000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2</m:t>
                        </m:r>
                      </m:den>
                    </m:f>
                    <m:r>
                      <a:rPr lang="en-US" sz="1400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[</m:t>
                    </m:r>
                    <m:r>
                      <a:rPr lang="en-US" sz="1400" i="1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𝐻</m:t>
                    </m:r>
                    <m:r>
                      <a:rPr lang="en-US" sz="1400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400" i="1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𝑈</m:t>
                    </m:r>
                    <m:r>
                      <a:rPr lang="en-US" sz="1400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  <m:r>
                      <a:rPr lang="en-US" sz="1400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+</m:t>
                    </m:r>
                    <m:r>
                      <a:rPr lang="en-US" sz="1400" i="1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𝐻</m:t>
                    </m:r>
                    <m:r>
                      <a:rPr lang="en-US" sz="1400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400" i="1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𝑉</m:t>
                    </m:r>
                    <m:r>
                      <a:rPr lang="en-US" sz="1400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  <m:r>
                      <a:rPr lang="en-US" sz="1400" dirty="0">
                        <a:solidFill>
                          <a:srgbClr val="1A1D23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m:t>]</m:t>
                    </m:r>
                  </m:oMath>
                </a14:m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—— H(U,V) 的上界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:r>
                  <a:rPr lang="en-US" sz="1400" b="1" dirty="0">
                    <a:solidFill>
                      <a:srgbClr val="5A7D6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熵项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𝐻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𝑈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𝑙𝑜𝑔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𝐻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𝑉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𝑗</m:t>
                          </m:r>
                        </m:sub>
                      </m:sSub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𝑙𝑜𝑔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归一化确保 </a:t>
                </a:r>
                <a:r>
                  <a:rPr lang="en-US" sz="1400" b="1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AMI ∈ [0, 1]</a:t>
                </a:r>
                <a:endParaRPr lang="en-US" sz="1400" dirty="0"/>
              </a:p>
            </p:txBody>
          </p:sp>
        </mc:Choice>
        <mc:Fallback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5918200"/>
                <a:ext cx="6731000" cy="2489200"/>
              </a:xfrm>
              <a:prstGeom prst="rect">
                <a:avLst/>
              </a:prstGeom>
              <a:blipFill rotWithShape="1">
                <a:blip r:embed="rId3"/>
                <a:stretch>
                  <a:fillRect b="-11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8191500" y="5816600"/>
            <a:ext cx="7302500" cy="279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8191500" y="5816600"/>
            <a:ext cx="50800" cy="2794000"/>
          </a:xfrm>
          <a:prstGeom prst="rect">
            <a:avLst/>
          </a:prstGeom>
          <a:solidFill>
            <a:srgbClr val="C4945A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/>
              <p:cNvSpPr/>
              <p:nvPr/>
            </p:nvSpPr>
            <p:spPr>
              <a:xfrm>
                <a:off x="8445500" y="5918200"/>
                <a:ext cx="6858000" cy="26416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400" b="1" dirty="0">
                    <a:solidFill>
                      <a:srgbClr val="C4945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期望互信息 E[MI]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</a:t>
                </a:r>
                <a:r>
                  <a:rPr lang="en-US" sz="1400" baseline="-400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ij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服从超几何分布：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𝑗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∼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𝐻𝑦𝑝𝑒𝑟𝑔𝑒𝑜𝑚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𝑛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𝑎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𝑗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E[MI] 需利用超几何分布的二阶矩性质推导，计算量随 n 增长较快。实际实现采用 </a:t>
                </a:r>
                <a:r>
                  <a:rPr lang="en-US" sz="1400" b="1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Vinh 等人 [4]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提供的封闭形式近似。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AMI = 1：聚类与标签完全一致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AMI = 0：与随机分类无异</a:t>
                </a:r>
                <a:endParaRPr lang="en-US" sz="1400" dirty="0"/>
              </a:p>
            </p:txBody>
          </p:sp>
        </mc:Choice>
        <mc:Fallback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500" y="5918200"/>
                <a:ext cx="6858000" cy="26416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RQ2 方法：典型性结构评估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762000" y="1422400"/>
            <a:ext cx="14732000" cy="635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1" name="Shape 9"/>
          <p:cNvSpPr/>
          <p:nvPr/>
        </p:nvSpPr>
        <p:spPr>
          <a:xfrm>
            <a:off x="762000" y="1422400"/>
            <a:ext cx="50800" cy="635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2" name="Text 10"/>
          <p:cNvSpPr/>
          <p:nvPr/>
        </p:nvSpPr>
        <p:spPr>
          <a:xfrm>
            <a:off x="1016000" y="1498600"/>
            <a:ext cx="1422400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目标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：检验 LLM 嵌入中的概念相似度能否预测人类对类别成员典型性的感知。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输入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：静态嵌入 e</a:t>
            </a:r>
            <a:r>
              <a:rPr lang="en-US" sz="15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人类典型性评分 τ</a:t>
            </a:r>
            <a:r>
              <a:rPr lang="en-US" sz="15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（1-10 分制）。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2000" y="2286000"/>
            <a:ext cx="4572000" cy="2349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762000" y="2286000"/>
            <a:ext cx="50800" cy="23495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5" name="Text 13"/>
          <p:cNvSpPr/>
          <p:nvPr/>
        </p:nvSpPr>
        <p:spPr>
          <a:xfrm>
            <a:off x="965200" y="23876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32000" y="23876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计算嵌入相似度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965200" y="2768600"/>
                <a:ext cx="4165600" cy="17526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对每个类别 C 中的概念 i：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𝑠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𝐶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den>
                      </m:f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𝑗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∈</m:t>
                          </m:r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𝐶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,</m:t>
                          </m:r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𝑗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≠</m:t>
                          </m:r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𝑐𝑜𝑠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𝑒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𝑒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𝑗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cos(a,b) = </a:t>
                </a:r>
                <a14:m>
                  <m:oMath xmlns:m="http://schemas.openxmlformats.org/officeDocument/2006/math">
                    <m:f>
                      <m:fPr>
                        <m:ctrlPr>
                          <a:rPr/>
                        </m:ctrlPr>
                      </m:fPr>
                      <m:num>
                        <m:r>
                          <a:rPr lang="en-US" sz="1000" i="1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𝑎</m:t>
                        </m:r>
                        <m:r>
                          <a:rPr lang="en-US" sz="1000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⋅</m:t>
                        </m:r>
                        <m:r>
                          <a:rPr lang="en-US" sz="1000" i="1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𝑏</m:t>
                        </m:r>
                      </m:num>
                      <m:den>
                        <m:r>
                          <a:rPr lang="en-US" sz="1000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∥</m:t>
                        </m:r>
                        <m:r>
                          <a:rPr lang="en-US" sz="1000" i="1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𝑎</m:t>
                        </m:r>
                        <m:r>
                          <a:rPr lang="en-US" sz="1000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∥</m:t>
                        </m:r>
                        <m:r>
                          <a:rPr lang="en-US" sz="1000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∥</m:t>
                        </m:r>
                        <m:r>
                          <a:rPr lang="en-US" sz="1000" i="1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𝑏</m:t>
                        </m:r>
                        <m:r>
                          <a:rPr lang="en-US" sz="1000" dirty="0">
                            <a:solidFill>
                              <a:srgbClr val="1A1D23"/>
                            </a:solidFill>
                            <a:latin typeface="Quattrocento Sans" pitchFamily="34" charset="0"/>
                            <a:ea typeface="Quattrocento Sans" pitchFamily="34" charset="-122"/>
                            <a:cs typeface="Quattrocento Sans" pitchFamily="34" charset="-120"/>
                          </a:rPr>
                          <m:t>∥</m:t>
                        </m:r>
                      </m:den>
                    </m:f>
                  </m:oMath>
                </a14:m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</a:t>
                </a:r>
                <a:r>
                  <a:rPr lang="en-US" sz="1400" baseline="-400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越大 → 概念 i 越靠近类别中心 → 越"典型"</a:t>
                </a:r>
                <a:endParaRPr lang="en-US" sz="1400" dirty="0"/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2768600"/>
                <a:ext cx="4165600" cy="1752600"/>
              </a:xfrm>
              <a:prstGeom prst="rect">
                <a:avLst/>
              </a:prstGeom>
              <a:blipFill rotWithShape="1">
                <a:blip r:embed="rId1"/>
                <a:stretch>
                  <a:fillRect b="-7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5461000" y="3302000"/>
            <a:ext cx="254000" cy="25400"/>
          </a:xfrm>
          <a:prstGeom prst="rect">
            <a:avLst/>
          </a:prstGeom>
          <a:solidFill>
            <a:srgbClr val="7A8B9E"/>
          </a:solidFill>
        </p:spPr>
      </p:sp>
      <p:sp>
        <p:nvSpPr>
          <p:cNvPr id="19" name="Shape 17"/>
          <p:cNvSpPr/>
          <p:nvPr/>
        </p:nvSpPr>
        <p:spPr>
          <a:xfrm>
            <a:off x="5842000" y="2286000"/>
            <a:ext cx="4572000" cy="266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5842000" y="2286000"/>
            <a:ext cx="50800" cy="2667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21" name="Text 19"/>
          <p:cNvSpPr/>
          <p:nvPr/>
        </p:nvSpPr>
        <p:spPr>
          <a:xfrm>
            <a:off x="6045200" y="23876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12000" y="23876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排序对比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45200" y="2768600"/>
            <a:ext cx="4165600" cy="213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在每个类别中分别排序：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将 s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（嵌入相似度）从大到小排序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将 τ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（人类典型性）从大到小排序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比较两个排序的一致性：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若嵌入相似度高的概念也是人类认为最典型的 → 正相关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541000" y="3302000"/>
            <a:ext cx="254000" cy="25400"/>
          </a:xfrm>
          <a:prstGeom prst="rect">
            <a:avLst/>
          </a:prstGeom>
          <a:solidFill>
            <a:srgbClr val="7A8B9E"/>
          </a:solidFill>
        </p:spPr>
      </p:sp>
      <p:sp>
        <p:nvSpPr>
          <p:cNvPr id="25" name="Shape 23"/>
          <p:cNvSpPr/>
          <p:nvPr/>
        </p:nvSpPr>
        <p:spPr>
          <a:xfrm>
            <a:off x="10922000" y="2286000"/>
            <a:ext cx="4572000" cy="266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10922000" y="2286000"/>
            <a:ext cx="50800" cy="26670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7" name="Text 25"/>
          <p:cNvSpPr/>
          <p:nvPr/>
        </p:nvSpPr>
        <p:spPr>
          <a:xfrm>
            <a:off x="11125200" y="23876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192000" y="23876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Spearman 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25200" y="2768600"/>
            <a:ext cx="4165600" cy="213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计算两个排序之间的 Spearman 秩相关系数：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ρ = 1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：排序完全一致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ρ = 0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：无关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ρ &lt; 0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：反向一致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&lt; 0.05 为统计显著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输出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：ρ + p 值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4953000"/>
            <a:ext cx="14732000" cy="1524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31" name="Shape 29"/>
          <p:cNvSpPr/>
          <p:nvPr/>
        </p:nvSpPr>
        <p:spPr>
          <a:xfrm>
            <a:off x="762000" y="4953000"/>
            <a:ext cx="50800" cy="15240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2" name="Text 30"/>
          <p:cNvSpPr/>
          <p:nvPr/>
        </p:nvSpPr>
        <p:spPr>
          <a:xfrm>
            <a:off x="1016000" y="5054600"/>
            <a:ext cx="14224000" cy="1320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信息论直觉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：典型性是概念在嵌入空间中的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信息密度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。高度典型的概念位于类别中心附近，描述它所需的比特数较少（压缩效率高）；边缘概念偏离中心，需要更多比特。如果嵌入空间忠实地编码了这种信息密度差异，则 s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应与 τ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正相关（ρ &gt; 0）。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2000" y="6731000"/>
            <a:ext cx="14732000" cy="165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Shape 32"/>
          <p:cNvSpPr/>
          <p:nvPr/>
        </p:nvSpPr>
        <p:spPr>
          <a:xfrm>
            <a:off x="762000" y="6731000"/>
            <a:ext cx="50800" cy="1651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35" name="Text 33"/>
          <p:cNvSpPr/>
          <p:nvPr/>
        </p:nvSpPr>
        <p:spPr>
          <a:xfrm>
            <a:off x="1016000" y="6832600"/>
            <a:ext cx="14224000" cy="144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 RQ1 的关键区别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RQ1 关注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类别边界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（聚类结果是否与人类类别对齐）——粗粒度匹配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RQ2 关注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类别内部结构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（嵌入相似度是否反映典型性梯度）——细粒度匹配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从信息论角度：RQ1 对应 I(X;Y)（互信息），RQ2 对应 p(x|y) 的几何结构（条件分布的信息密度）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 直观理解：为什么选择 k = 18？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信息瓶颈原理：压缩 vs 意义保持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2000" y="1803400"/>
            <a:ext cx="14732000" cy="1016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2" name="Shape 10"/>
          <p:cNvSpPr/>
          <p:nvPr/>
        </p:nvSpPr>
        <p:spPr>
          <a:xfrm>
            <a:off x="762000" y="1803400"/>
            <a:ext cx="50800" cy="1016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3" name="Text 11"/>
          <p:cNvSpPr/>
          <p:nvPr/>
        </p:nvSpPr>
        <p:spPr>
          <a:xfrm>
            <a:off x="1016000" y="1879600"/>
            <a:ext cx="142240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L(k) = I(X;C) + β·D(k) 量化了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压缩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语义相干性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之间的权衡。I(X;C) 正比于 log₂k（更多簇需要更多信息描述），D(k) 随 k 增大而减小（更多簇使每个簇内部更紧凑）。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3073400"/>
            <a:ext cx="4572000" cy="1930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762000" y="3073400"/>
            <a:ext cx="50800" cy="1930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6" name="Text 14"/>
          <p:cNvSpPr/>
          <p:nvPr/>
        </p:nvSpPr>
        <p:spPr>
          <a:xfrm>
            <a:off x="965200" y="31496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5200" y="3505200"/>
            <a:ext cx="4165600" cy="142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把所有数据压成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个簇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极度压缩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失真巨大（鸟和交通工具被强行合在一起）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I(X;C) ≈ 1 bit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88000" y="3073400"/>
            <a:ext cx="4572000" cy="1930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5588000" y="3073400"/>
            <a:ext cx="50800" cy="19304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20" name="Text 18"/>
          <p:cNvSpPr/>
          <p:nvPr/>
        </p:nvSpPr>
        <p:spPr>
          <a:xfrm>
            <a:off x="5791200" y="3149600"/>
            <a:ext cx="127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18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91200" y="3505200"/>
            <a:ext cx="4165600" cy="142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人类定义的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个类别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自然的折中点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边际收益递减的过渡区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I(X;C) ≈ log₂18 ≈ 4.17 bits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414000" y="3073400"/>
            <a:ext cx="5080000" cy="1930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10414000" y="3073400"/>
            <a:ext cx="50800" cy="19304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4" name="Text 22"/>
          <p:cNvSpPr/>
          <p:nvPr/>
        </p:nvSpPr>
        <p:spPr>
          <a:xfrm>
            <a:off x="10617200" y="31496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50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17200" y="3505200"/>
            <a:ext cx="4673600" cy="142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拆成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个细类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几乎没有压缩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每个簇内数据非常相似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I(X;C) ≈ log₂50 ≈ 5.64 bits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508000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为什么 k = 18 是自然的拐点？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62000" y="5486400"/>
            <a:ext cx="14732000" cy="1587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28" name="Shape 26"/>
          <p:cNvSpPr/>
          <p:nvPr/>
        </p:nvSpPr>
        <p:spPr>
          <a:xfrm>
            <a:off x="762000" y="5486400"/>
            <a:ext cx="50800" cy="15875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29" name="Text 27"/>
          <p:cNvSpPr/>
          <p:nvPr/>
        </p:nvSpPr>
        <p:spPr>
          <a:xfrm>
            <a:off x="1016000" y="5588000"/>
            <a:ext cx="14224000" cy="142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由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率失真理论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，R(D) 曲线上每点对应 Pareto 最优的压缩-失真折衷：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很小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（k &lt; 5）：增加簇能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大幅降低失真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；k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很大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（k &gt; 30）：边际改善趋近零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人类选择的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18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恰好落在边际收益递减的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过渡区域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62000" y="7112000"/>
            <a:ext cx="14732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Shape 29"/>
          <p:cNvSpPr/>
          <p:nvPr/>
        </p:nvSpPr>
        <p:spPr>
          <a:xfrm>
            <a:off x="762000" y="7112000"/>
            <a:ext cx="50800" cy="1270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32" name="Text 30"/>
          <p:cNvSpPr/>
          <p:nvPr/>
        </p:nvSpPr>
        <p:spPr>
          <a:xfrm>
            <a:off x="1016000" y="7213600"/>
            <a:ext cx="142240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曲线特征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：L(k) 整体随 k 单调递减但斜率逐渐变缓——增加簇数带来的边际收益递减。从信息论角度，这个拐点对应率失真函数 R(D) 的斜率 −dR/dD 开始快速增加的区域——即再增加率（更多的簇）只能换来极少的失真改善。人类的 k = 18 正好是这个过渡区间的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典型值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 方法：L 曲线计算流程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762000" y="1422400"/>
            <a:ext cx="14732000" cy="571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1" name="Shape 9"/>
          <p:cNvSpPr/>
          <p:nvPr/>
        </p:nvSpPr>
        <p:spPr>
          <a:xfrm>
            <a:off x="762000" y="1422400"/>
            <a:ext cx="50800" cy="5715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2" name="Text 10"/>
          <p:cNvSpPr/>
          <p:nvPr/>
        </p:nvSpPr>
        <p:spPr>
          <a:xfrm>
            <a:off x="1016000" y="1498600"/>
            <a:ext cx="1422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目标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：检验 LLM 嵌入在不同粒度聚类下的压缩-失真权衡曲线，验证 k = 18 是否位于自然拐点。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输入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：静态嵌入 e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∈ R</a:t>
            </a:r>
            <a:r>
              <a:rPr lang="en-US" sz="1400" baseline="3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，β = 1.0。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2222500"/>
            <a:ext cx="4572000" cy="2222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762000" y="2222500"/>
            <a:ext cx="50800" cy="22225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5" name="Text 13"/>
          <p:cNvSpPr/>
          <p:nvPr/>
        </p:nvSpPr>
        <p:spPr>
          <a:xfrm>
            <a:off x="965200" y="23114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32000" y="23114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遍历 k 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" y="2692400"/>
            <a:ext cx="4165600" cy="1752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2, 3, ..., 50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对每个 k 运行 k-means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（n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50）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得到簇分配 {C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 和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质心 {μ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(k)}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61000" y="3048000"/>
            <a:ext cx="254000" cy="25400"/>
          </a:xfrm>
          <a:prstGeom prst="rect">
            <a:avLst/>
          </a:prstGeom>
          <a:solidFill>
            <a:srgbClr val="7A8B9E"/>
          </a:solidFill>
        </p:spPr>
      </p:sp>
      <p:sp>
        <p:nvSpPr>
          <p:cNvPr id="19" name="Shape 17"/>
          <p:cNvSpPr/>
          <p:nvPr/>
        </p:nvSpPr>
        <p:spPr>
          <a:xfrm>
            <a:off x="5842000" y="2222500"/>
            <a:ext cx="4572000" cy="2222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5842000" y="2222500"/>
            <a:ext cx="50800" cy="22225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21" name="Text 19"/>
          <p:cNvSpPr/>
          <p:nvPr/>
        </p:nvSpPr>
        <p:spPr>
          <a:xfrm>
            <a:off x="6045200" y="23114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12000" y="23114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压缩项 I(X;C</a:t>
            </a:r>
            <a:r>
              <a:rPr lang="en-US" sz="1600" b="1" baseline="-40000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21"/>
              <p:cNvSpPr/>
              <p:nvPr/>
            </p:nvSpPr>
            <p:spPr>
              <a:xfrm>
                <a:off x="6045200" y="2692400"/>
                <a:ext cx="4165600" cy="16764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</a:t>
                </a:r>
                <a:r>
                  <a:rPr lang="en-US" sz="1400" baseline="-400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k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是 X 的确定性函数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（每个点唯一分配一簇）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⇒ H(C</a:t>
                </a:r>
                <a:r>
                  <a:rPr lang="en-US" sz="1400" baseline="-400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k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|X) = 0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𝐼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𝑋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;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𝐶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𝑘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𝐻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𝐶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𝑘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Sup>
                        <m:sSubSup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𝑘</m:t>
                          </m:r>
                        </m:sup>
                      </m:sSubSup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𝑙𝑜𝑔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7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7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3" name="Tex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200" y="2692400"/>
                <a:ext cx="4165600" cy="16764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22"/>
          <p:cNvSpPr/>
          <p:nvPr/>
        </p:nvSpPr>
        <p:spPr>
          <a:xfrm>
            <a:off x="10541000" y="3048000"/>
            <a:ext cx="254000" cy="25400"/>
          </a:xfrm>
          <a:prstGeom prst="rect">
            <a:avLst/>
          </a:prstGeom>
          <a:solidFill>
            <a:srgbClr val="7A8B9E"/>
          </a:solidFill>
        </p:spPr>
      </p:sp>
      <p:sp>
        <p:nvSpPr>
          <p:cNvPr id="25" name="Shape 23"/>
          <p:cNvSpPr/>
          <p:nvPr/>
        </p:nvSpPr>
        <p:spPr>
          <a:xfrm>
            <a:off x="10922000" y="2222500"/>
            <a:ext cx="4572000" cy="2222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10922000" y="2222500"/>
            <a:ext cx="50800" cy="22225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7" name="Text 25"/>
          <p:cNvSpPr/>
          <p:nvPr/>
        </p:nvSpPr>
        <p:spPr>
          <a:xfrm>
            <a:off x="11125200" y="2311400"/>
            <a:ext cx="10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192000" y="23114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失真项 D(k)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27"/>
              <p:cNvSpPr/>
              <p:nvPr/>
            </p:nvSpPr>
            <p:spPr>
              <a:xfrm>
                <a:off x="11125200" y="2692400"/>
                <a:ext cx="4165600" cy="17526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平均欧氏距离平方：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𝐷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𝑘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𝑘</m:t>
                          </m:r>
                        </m:sup>
                      </m:sSubSup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𝑒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∈</m:t>
                          </m:r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𝐶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∥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𝑒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𝜇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𝑘</m:t>
                      </m:r>
                      <m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sSup>
                        <m:sSupPr>
                          <m:ctrlP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∥</m:t>
                          </m:r>
                        </m:e>
                        <m:sup>
                          <m:r>
                            <a:rPr lang="en-US" sz="1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  <a:p>
                <a:pPr algn="l">
                  <a:lnSpc>
                    <a:spcPct val="16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µ</a:t>
                </a:r>
                <a:r>
                  <a:rPr lang="en-US" sz="1400" baseline="-400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</a:t>
                </a: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是簇 c 的质心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D(k) 衡量聚类内的</a:t>
                </a:r>
                <a:endParaRPr lang="en-US" sz="14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语义相干性</a:t>
                </a:r>
                <a:endParaRPr lang="en-US" sz="1400" dirty="0"/>
              </a:p>
            </p:txBody>
          </p:sp>
        </mc:Choice>
        <mc:Fallback>
          <p:sp>
            <p:nvSpPr>
              <p:cNvPr id="29" name="Text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200" y="2692400"/>
                <a:ext cx="4165600" cy="1752600"/>
              </a:xfrm>
              <a:prstGeom prst="rect">
                <a:avLst/>
              </a:prstGeom>
              <a:blipFill rotWithShape="1">
                <a:blip r:embed="rId2"/>
                <a:stretch>
                  <a:fillRect b="-14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Shape 28"/>
          <p:cNvSpPr/>
          <p:nvPr/>
        </p:nvSpPr>
        <p:spPr>
          <a:xfrm>
            <a:off x="2032000" y="4508500"/>
            <a:ext cx="12192000" cy="698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31" name="Shape 29"/>
          <p:cNvSpPr/>
          <p:nvPr/>
        </p:nvSpPr>
        <p:spPr>
          <a:xfrm>
            <a:off x="2032000" y="4508500"/>
            <a:ext cx="50800" cy="698500"/>
          </a:xfrm>
          <a:prstGeom prst="rect">
            <a:avLst/>
          </a:prstGeom>
          <a:solidFill>
            <a:srgbClr val="2D3E50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30"/>
              <p:cNvSpPr/>
              <p:nvPr/>
            </p:nvSpPr>
            <p:spPr>
              <a:xfrm>
                <a:off x="2349500" y="4597400"/>
                <a:ext cx="115570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𝐿</m:t>
                      </m:r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𝑘</m:t>
                      </m:r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limLow>
                        <m:limLowPr>
                          <m:ctrlPr>
                            <a:rPr lang="en-US" sz="2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lang="en-US" sz="20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LowPr>
                            <m:e>
                              <m:r>
                                <a:rPr lang="en-US" sz="20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𝐼</m:t>
                              </m:r>
                              <m:r>
                                <a:rPr lang="en-US" sz="20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(</m:t>
                              </m:r>
                              <m:r>
                                <a:rPr lang="en-US" sz="20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𝑋</m:t>
                              </m:r>
                              <m:r>
                                <a:rPr lang="en-US" sz="20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4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)</m:t>
                              </m:r>
                            </m:e>
                            <m:lim>
                              <m:r>
                                <a:rPr lang="en-US" sz="20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a:rPr lang="en-US" sz="2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复杂度/率</m:t>
                          </m:r>
                        </m:lim>
                      </m:limLow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20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𝛽</m:t>
                      </m:r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limLow>
                        <m:limLowPr>
                          <m:ctrlPr>
                            <a:rPr lang="en-US" sz="2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lang="en-US" sz="20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LowPr>
                            <m:e>
                              <m:r>
                                <a:rPr lang="en-US" sz="20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𝐷</m:t>
                              </m:r>
                              <m:r>
                                <a:rPr lang="en-US" sz="20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(</m:t>
                              </m:r>
                              <m:r>
                                <a:rPr lang="en-US" sz="20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𝑘</m:t>
                              </m:r>
                              <m:r>
                                <a:rPr lang="en-US" sz="20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)</m:t>
                              </m:r>
                            </m:e>
                            <m:lim>
                              <m:r>
                                <a:rPr lang="en-US" sz="20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a:rPr lang="en-US" sz="20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失真</m:t>
                          </m:r>
                        </m:lim>
                      </m:limLow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 </m:t>
                      </m:r>
                      <m:r>
                        <a:rPr lang="en-US" sz="20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𝛽</m:t>
                      </m:r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.</m:t>
                      </m:r>
                      <m:r>
                        <a:rPr lang="en-US" sz="20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2" name="Tex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500" y="4597400"/>
                <a:ext cx="11557000" cy="508000"/>
              </a:xfrm>
              <a:prstGeom prst="rect">
                <a:avLst/>
              </a:prstGeom>
              <a:blipFill rotWithShape="1">
                <a:blip r:embed="rId3"/>
                <a:stretch>
                  <a:fillRect t="-39500" b="-39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Shape 31"/>
          <p:cNvSpPr/>
          <p:nvPr/>
        </p:nvSpPr>
        <p:spPr>
          <a:xfrm>
            <a:off x="762000" y="5461000"/>
            <a:ext cx="7175500" cy="1968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Shape 32"/>
          <p:cNvSpPr/>
          <p:nvPr/>
        </p:nvSpPr>
        <p:spPr>
          <a:xfrm>
            <a:off x="762000" y="5461000"/>
            <a:ext cx="50800" cy="19685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5" name="Text 33"/>
          <p:cNvSpPr/>
          <p:nvPr/>
        </p:nvSpPr>
        <p:spPr>
          <a:xfrm>
            <a:off x="1016000" y="5562600"/>
            <a:ext cx="6731000" cy="180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4：记录人类基准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在 k = 18 处记录 L(18)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5：跨模型对比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比较不同模型的 L(k) 曲线形状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以及 L(18) 的数值差异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91500" y="5461000"/>
            <a:ext cx="7302500" cy="187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Shape 35"/>
          <p:cNvSpPr/>
          <p:nvPr/>
        </p:nvSpPr>
        <p:spPr>
          <a:xfrm>
            <a:off x="8191500" y="5461000"/>
            <a:ext cx="50800" cy="18796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38" name="Text 36"/>
          <p:cNvSpPr/>
          <p:nvPr/>
        </p:nvSpPr>
        <p:spPr>
          <a:xfrm>
            <a:off x="8445500" y="5562600"/>
            <a:ext cx="6858000" cy="167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计算量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模型 × 49 k 值 × 50 次初始化 =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58,800 次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k-means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输出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：每个模型一条 L(k) 曲线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（k = 2, ..., 50）+ k = 18 处标量值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62000" y="7429500"/>
            <a:ext cx="14732000" cy="1016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40" name="Shape 38"/>
          <p:cNvSpPr/>
          <p:nvPr/>
        </p:nvSpPr>
        <p:spPr>
          <a:xfrm>
            <a:off x="762000" y="7429500"/>
            <a:ext cx="50800" cy="10160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41" name="Text 39"/>
          <p:cNvSpPr/>
          <p:nvPr/>
        </p:nvSpPr>
        <p:spPr>
          <a:xfrm>
            <a:off x="1016000" y="7531100"/>
            <a:ext cx="14224000" cy="812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与信息瓶颈的联系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：L(k) ≈ I(X;C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+ βD(k) 正是 IB 目标（式 9）的对偶形式。由于 I(C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;Y) 难以直接估计，用 D(k) 替代 −I(C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;Y)（负号：最大化意义等价于最小化失真）。k-means 恰好是率失真函数的一种实际近似求解——在给定 k（等价于给定率 R ≈ log₂k）的条件下最小化失真。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52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03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762000" cy="381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5" name="Text 3"/>
          <p:cNvSpPr/>
          <p:nvPr/>
        </p:nvSpPr>
        <p:spPr>
          <a:xfrm>
            <a:off x="762000" y="4572000"/>
            <a:ext cx="1016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2000" y="5461000"/>
            <a:ext cx="1016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基于信息论的定量评估框架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理论基础：率失真理论与信息瓶颈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422400"/>
            <a:ext cx="6858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Rate-Distortion Theory (Shannon, 1948)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2000" y="1803400"/>
            <a:ext cx="6858000" cy="1968500"/>
          </a:xfrm>
          <a:prstGeom prst="rect">
            <a:avLst/>
          </a:prstGeom>
          <a:solidFill>
            <a:srgbClr val="E8ECF0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952500" y="1879600"/>
                <a:ext cx="6477000" cy="1841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形式化有损压缩的权衡：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𝑅</m:t>
                      </m:r>
                      <m:r>
                        <a:rPr lang="en-US" sz="15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𝜆</m:t>
                      </m:r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𝐷</m:t>
                      </m:r>
                    </m:oMath>
                  </m:oMathPara>
                </a14:m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</a:t>
                </a:r>
                <a:r>
                  <a:rPr lang="en-US" sz="1500" b="1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</a:t>
                </a: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（Rate）：表示所需比特数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</a:t>
                </a:r>
                <a:r>
                  <a:rPr lang="en-US" sz="1500" b="1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D</a:t>
                </a: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（Distortion）：信息丢失量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</a:t>
                </a:r>
                <a:r>
                  <a:rPr lang="en-US" sz="1500" b="1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λ</a:t>
                </a: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：控制压缩与失真的权衡</a:t>
                </a:r>
                <a:endParaRPr lang="en-US" sz="150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879600"/>
                <a:ext cx="6477000" cy="18415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8128000" y="1422400"/>
            <a:ext cx="736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Information Bottleneck (Tishby et al., 2000)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28000" y="1803400"/>
            <a:ext cx="7366000" cy="1968500"/>
          </a:xfrm>
          <a:prstGeom prst="rect">
            <a:avLst/>
          </a:prstGeom>
          <a:solidFill>
            <a:srgbClr val="E8ECF0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8318500" y="1879600"/>
                <a:ext cx="6985000" cy="1841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压缩 X 到 Z 同时保留关于 Y 的信息：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𝑚𝑖𝑛</m:t>
                      </m:r>
                      <m:r>
                        <a:rPr lang="en-US" sz="15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𝐼</m:t>
                      </m:r>
                      <m:r>
                        <a:rPr lang="en-US" sz="15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𝑋</m:t>
                      </m:r>
                      <m:r>
                        <a:rPr lang="en-US" sz="15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;</m:t>
                      </m:r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𝑍</m:t>
                      </m:r>
                      <m:r>
                        <a:rPr lang="en-US" sz="15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5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𝛽</m:t>
                      </m:r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𝐼</m:t>
                      </m:r>
                      <m:r>
                        <a:rPr lang="en-US" sz="15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𝑍</m:t>
                      </m:r>
                      <m:r>
                        <a:rPr lang="en-US" sz="15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;</m:t>
                      </m:r>
                      <m:r>
                        <a:rPr lang="en-US" sz="15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𝑌</m:t>
                      </m:r>
                      <m:r>
                        <a:rPr lang="en-US" sz="15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</a:t>
                </a:r>
                <a:r>
                  <a:rPr lang="en-US" sz="1500" b="1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I(X;Z)</a:t>
                </a: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：压缩项（X 到 Z 的互信息）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</a:t>
                </a:r>
                <a:r>
                  <a:rPr lang="en-US" sz="1500" b="1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I(Z;Y)</a:t>
                </a: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：意义项（Z 关于 Y 的信息）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</a:t>
                </a:r>
                <a:r>
                  <a:rPr lang="en-US" sz="1500" b="1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β</a:t>
                </a:r>
                <a:r>
                  <a:rPr lang="en-US" sz="1500" dirty="0">
                    <a:solidFill>
                      <a:srgbClr val="1A1D2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：拉格朗日乘子，控制权衡</a:t>
                </a:r>
                <a:endParaRPr lang="en-US" sz="1500" dirty="0"/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500" y="1879600"/>
                <a:ext cx="6985000" cy="18415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4"/>
          <p:cNvSpPr/>
          <p:nvPr/>
        </p:nvSpPr>
        <p:spPr>
          <a:xfrm>
            <a:off x="762000" y="40005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本文的适应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2000" y="4381500"/>
            <a:ext cx="14732000" cy="1524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8" name="Shape 16"/>
          <p:cNvSpPr/>
          <p:nvPr/>
        </p:nvSpPr>
        <p:spPr>
          <a:xfrm>
            <a:off x="762000" y="4381500"/>
            <a:ext cx="50800" cy="1524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9" name="Text 17"/>
          <p:cNvSpPr/>
          <p:nvPr/>
        </p:nvSpPr>
        <p:spPr>
          <a:xfrm>
            <a:off x="1016000" y="4483100"/>
            <a:ext cx="14224000" cy="1320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对于概念表示，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缺乏外部相关性变量 Y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。"相关性"变为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内部语义相干性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——即类别保留组内相似性的程度。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本文结合 RDT 的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几何失真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 IB 的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信息论压缩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，提出统一框架：聚类 C 表示项目 X，同时最小化指定项目所需的信息（压缩）和类别内的语义扩散（失真）。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2000" y="6223000"/>
            <a:ext cx="14732000" cy="8255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21" name="Text 19"/>
          <p:cNvSpPr/>
          <p:nvPr/>
        </p:nvSpPr>
        <p:spPr>
          <a:xfrm>
            <a:off x="1016000" y="6324600"/>
            <a:ext cx="14224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核心权衡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：Compression（将多样项目分组，需要更少比特）vs Meaning Preservation（维持组内语义相干性）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目标函数：量化压缩-意义权衡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2032000" y="1524000"/>
            <a:ext cx="12192000" cy="1270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1" name="Shape 9"/>
          <p:cNvSpPr/>
          <p:nvPr/>
        </p:nvSpPr>
        <p:spPr>
          <a:xfrm>
            <a:off x="2032000" y="1524000"/>
            <a:ext cx="50800" cy="1270000"/>
          </a:xfrm>
          <a:prstGeom prst="rect">
            <a:avLst/>
          </a:prstGeom>
          <a:solidFill>
            <a:srgbClr val="B85450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2349500" y="1625600"/>
                <a:ext cx="11557000" cy="1066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𝐿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𝑋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𝐶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;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𝛽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limLow>
                        <m:limLowPr>
                          <m:ctrlPr>
                            <a:rPr lang="en-US" sz="22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lang="en-US" sz="22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LowPr>
                            <m:e>
                              <m:r>
                                <a:rPr lang="en-US" sz="22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𝐼</m:t>
                              </m:r>
                              <m:r>
                                <a:rPr lang="en-US" sz="22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(</m:t>
                              </m:r>
                              <m:r>
                                <a:rPr lang="en-US" sz="22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𝑋</m:t>
                              </m:r>
                              <m:r>
                                <a:rPr lang="en-US" sz="22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;</m:t>
                              </m:r>
                              <m:r>
                                <a:rPr lang="en-US" sz="22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𝐶</m:t>
                              </m:r>
                              <m:r>
                                <a:rPr lang="en-US" sz="22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)</m:t>
                              </m:r>
                            </m:e>
                            <m:lim>
                              <m:r>
                                <a:rPr lang="en-US" sz="22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a:rPr lang="en-US" sz="22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𝐶𝑜𝑚𝑝𝑙𝑒𝑥𝑖𝑡𝑦</m:t>
                          </m:r>
                        </m:lim>
                      </m:limLow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𝛽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limLow>
                        <m:limLowPr>
                          <m:ctrlPr>
                            <a:rPr lang="en-US" sz="22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lang="en-US" sz="22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LowPr>
                            <m:e>
                              <m:f>
                                <m:fPr>
                                  <m:ctrlPr>
                                    <a:rPr/>
                                  </m:ctrlPr>
                                </m:fPr>
                                <m:num>
                                  <m: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∣</m:t>
                                  </m:r>
                                  <m:r>
                                    <a:rPr lang="en-US" sz="1500" i="1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𝑋</m:t>
                                  </m:r>
                                  <m: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∣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∑</m:t>
                                  </m:r>
                                </m:e>
                                <m:sub>
                                  <m:r>
                                    <a:rPr lang="en-US" sz="1500" i="1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𝑐</m:t>
                                  </m:r>
                                  <m: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∈</m:t>
                                  </m:r>
                                  <m:r>
                                    <a:rPr lang="en-US" sz="1500" i="1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𝐶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∑</m:t>
                                  </m:r>
                                </m:e>
                                <m:sub>
                                  <m:r>
                                    <a:rPr lang="en-US" sz="1500" i="1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𝑥</m:t>
                                  </m:r>
                                  <m: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∈</m:t>
                                  </m:r>
                                  <m:r>
                                    <a:rPr lang="en-US" sz="1500" i="1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2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∥</m:t>
                              </m:r>
                              <m:sSub>
                                <m:sSubPr>
                                  <m:ctrlP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500" i="1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2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</m:ctrlPr>
                                </m:sSubPr>
                                <m:e>
                                  <m:limUpp>
                                    <m:limUppPr>
                                      <m:ctrlPr>
                                        <a:rPr lang="en-US" sz="1500" dirty="0">
                                          <a:solidFill>
                                            <a:srgbClr val="1A1D23"/>
                                          </a:solidFill>
                                          <a:latin typeface="Quattrocento Sans" pitchFamily="34" charset="0"/>
                                          <a:ea typeface="Quattrocento Sans" pitchFamily="34" charset="-122"/>
                                          <a:cs typeface="Quattrocento Sans" pitchFamily="34" charset="-120"/>
                                        </a:rPr>
                                      </m:ctrlPr>
                                    </m:limUppPr>
                                    <m:e>
                                      <m:r>
                                        <a:rPr lang="en-US" sz="1500" i="1" dirty="0">
                                          <a:solidFill>
                                            <a:srgbClr val="1A1D23"/>
                                          </a:solidFill>
                                          <a:latin typeface="Quattrocento Sans" pitchFamily="34" charset="0"/>
                                          <a:ea typeface="Quattrocento Sans" pitchFamily="34" charset="-122"/>
                                          <a:cs typeface="Quattrocento Sans" pitchFamily="34" charset="-120"/>
                                        </a:rPr>
                                        <m:t>𝑒</m:t>
                                      </m:r>
                                    </m:e>
                                    <m:lim>
                                      <m:r>
                                        <a:rPr lang="en-US" sz="1500" dirty="0">
                                          <a:solidFill>
                                            <a:srgbClr val="1A1D23"/>
                                          </a:solidFill>
                                          <a:latin typeface="Quattrocento Sans" pitchFamily="34" charset="0"/>
                                          <a:ea typeface="Quattrocento Sans" pitchFamily="34" charset="-122"/>
                                          <a:cs typeface="Quattrocento Sans" pitchFamily="34" charset="-120"/>
                                        </a:rPr>
                                        <m:t>ˉ</m:t>
                                      </m:r>
                                    </m:lim>
                                  </m:limUpp>
                                </m:e>
                                <m:sub>
                                  <m:r>
                                    <a:rPr lang="en-US" sz="1500" i="1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𝑐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∥</m:t>
                                  </m:r>
                                </m:e>
                                <m:sup>
                                  <m:r>
                                    <a:rPr lang="en-US" sz="1500" dirty="0">
                                      <a:solidFill>
                                        <a:srgbClr val="1A1D23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lim>
                              <m:r>
                                <a:rPr lang="en-US" sz="22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a:rPr lang="en-US" sz="22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𝐷𝑖𝑠𝑡𝑜𝑟𝑡𝑖𝑜𝑛</m:t>
                          </m:r>
                        </m:lim>
                      </m:limLow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500" y="1625600"/>
                <a:ext cx="11557000" cy="1066800"/>
              </a:xfrm>
              <a:prstGeom prst="rect">
                <a:avLst/>
              </a:prstGeom>
              <a:blipFill rotWithShape="1">
                <a:blip r:embed="rId1"/>
                <a:stretch>
                  <a:fillRect t="-27024" b="-27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8077200" y="3111500"/>
            <a:ext cx="25400" cy="3937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4" name="Text 12"/>
          <p:cNvSpPr/>
          <p:nvPr/>
        </p:nvSpPr>
        <p:spPr>
          <a:xfrm>
            <a:off x="762000" y="3111500"/>
            <a:ext cx="711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 项：I(X; C)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3556000"/>
            <a:ext cx="7112000" cy="3492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952500" y="3683000"/>
            <a:ext cx="6731000" cy="323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含义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：量化聚类保留了多少关于个体项目的信息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直觉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：知道项目的聚类后，能推断出多少具体项目信息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极端情况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单聚类 → I(X;C) = 0（最大压缩）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单例聚类 → I(X;C) = log|X|（无压缩）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对应 RQ1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：范畴对齐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1200" y="3111500"/>
            <a:ext cx="71628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Distortion 项：语义扩散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31200" y="3556000"/>
            <a:ext cx="7162800" cy="3492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8521700" y="3683000"/>
            <a:ext cx="6781800" cy="323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含义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：衡量聚类内的语义相干性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直觉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：同类项目的嵌入是否紧密聚集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极端情况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低失真 → 紧密聚类（高语义相干）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高失真 → 松散聚类（低语义相干）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对应 RQ2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：典型性结构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7366000"/>
            <a:ext cx="14732000" cy="10160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21" name="Text 19"/>
          <p:cNvSpPr/>
          <p:nvPr/>
        </p:nvSpPr>
        <p:spPr>
          <a:xfrm>
            <a:off x="1016000" y="7467600"/>
            <a:ext cx="142240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β 参数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：控制压缩与相干性的相对重要性。β → 0 时优先考虑压缩（低复杂度），β → ∞ 时优先考虑语义相干（低失真）。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完整 L 函数对应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：压缩-意义权衡，通过变化 K 和 β 揭示系统优先级。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 项：测量压缩程度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2032000" y="1460500"/>
            <a:ext cx="12192000" cy="1016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1" name="Shape 9"/>
          <p:cNvSpPr/>
          <p:nvPr/>
        </p:nvSpPr>
        <p:spPr>
          <a:xfrm>
            <a:off x="2032000" y="1460500"/>
            <a:ext cx="50800" cy="1016000"/>
          </a:xfrm>
          <a:prstGeom prst="rect">
            <a:avLst/>
          </a:prstGeom>
          <a:solidFill>
            <a:srgbClr val="B85450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2349500" y="1549400"/>
                <a:ext cx="11557000" cy="8382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𝐶𝑜𝑚𝑝𝑙𝑒𝑥𝑖𝑡𝑦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𝑋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𝐶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𝐼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𝑋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;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𝐶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𝑙𝑜𝑔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𝑋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∈</m:t>
                          </m:r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𝐶</m:t>
                          </m:r>
                        </m:sub>
                      </m:sSub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11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1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𝑋</m:t>
                          </m:r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</m:den>
                      </m:f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𝑙𝑜𝑔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𝐶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</m:sub>
                      </m:sSub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500" y="1549400"/>
                <a:ext cx="11557000" cy="838200"/>
              </a:xfrm>
              <a:prstGeom prst="rect">
                <a:avLst/>
              </a:prstGeom>
              <a:blipFill rotWithShape="1">
                <a:blip r:embed="rId1"/>
                <a:stretch>
                  <a:fillRect t="-1818" b="-1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762000" y="2794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公式解读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238500"/>
            <a:ext cx="7112000" cy="3302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952500" y="3365500"/>
            <a:ext cx="6731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|X|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：项目总数（1,049）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|Cc|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：聚类 c 中的项目数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log|X|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：无压缩时的最大熵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第二项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：压缩后的条件熵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互信息 I(X;C) = H(X) - H(X|C)，量化聚类 C 保留了关于 X 的多少信息。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1200" y="2794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直觉理解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31200" y="3238500"/>
            <a:ext cx="7162800" cy="3302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8521700" y="3365500"/>
            <a:ext cx="67818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高压缩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（低复杂度）：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所有项目归入少数几个大类，指定具体项目需要很多额外信息。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低压缩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（高复杂度）：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每个项目自成一类，聚类完全保留个体信息。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858000"/>
            <a:ext cx="14732000" cy="1841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20" name="Shape 18"/>
          <p:cNvSpPr/>
          <p:nvPr/>
        </p:nvSpPr>
        <p:spPr>
          <a:xfrm>
            <a:off x="762000" y="6858000"/>
            <a:ext cx="50800" cy="18415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21" name="Text 19"/>
          <p:cNvSpPr/>
          <p:nvPr/>
        </p:nvSpPr>
        <p:spPr>
          <a:xfrm>
            <a:off x="1016000" y="6959600"/>
            <a:ext cx="14224000" cy="167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极端情况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（对应 RQ1 范畴对齐）：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单聚类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（K=1）：I(X;C) = 0，最大压缩，所有项目视为同一类别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单例聚类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（K=|X|）：I(X;C) = log|X|，无压缩，每个项目独立成类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人类 vs LLM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：比较 I(X;C</a:t>
            </a:r>
            <a:r>
              <a:rPr lang="en-US" sz="16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与 I(X;C</a:t>
            </a:r>
            <a:r>
              <a:rPr lang="en-US" sz="16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揭示是否创建相似大小的分组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Distortion 项：测量语义相干性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2032000" y="1460500"/>
            <a:ext cx="12192000" cy="1016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1" name="Shape 9"/>
          <p:cNvSpPr/>
          <p:nvPr/>
        </p:nvSpPr>
        <p:spPr>
          <a:xfrm>
            <a:off x="2032000" y="1460500"/>
            <a:ext cx="50800" cy="1016000"/>
          </a:xfrm>
          <a:prstGeom prst="rect">
            <a:avLst/>
          </a:prstGeom>
          <a:solidFill>
            <a:srgbClr val="B85450"/>
          </a:solid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2349500" y="1549400"/>
                <a:ext cx="11557000" cy="8382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𝐷𝑖𝑠𝑡𝑜𝑟𝑡𝑖𝑜𝑛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𝑋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2200" i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𝐶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𝑋</m:t>
                          </m:r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</m:den>
                      </m:f>
                      <m:sSub>
                        <m:sSubPr>
                          <m:ctrlP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∈</m:t>
                          </m:r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𝐶</m:t>
                          </m:r>
                        </m:sub>
                      </m:sSub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𝐶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</m:sub>
                      </m:sSub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sSubSup>
                        <m:sSubSupPr>
                          <m:ctrlP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</m:sub>
                        <m:sup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 </m:t>
                      </m:r>
                      <m:sSubSup>
                        <m:sSubSupPr>
                          <m:ctrlP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</m:sub>
                        <m:sup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11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1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</m:den>
                      </m:f>
                      <m:sSub>
                        <m:sSubPr>
                          <m:ctrlP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𝑥</m:t>
                          </m:r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∈</m:t>
                          </m:r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</m:sub>
                      </m:sSub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∥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𝑒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𝑥</m:t>
                          </m:r>
                        </m:sub>
                      </m:sSub>
                      <m:r>
                        <a:rPr lang="en-US" sz="22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5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500" i="1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𝑒</m:t>
                              </m:r>
                            </m:e>
                            <m:lim>
                              <m:r>
                                <a:rPr lang="en-US" sz="1500" dirty="0">
                                  <a:solidFill>
                                    <a:srgbClr val="1A1D23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ˉ</m:t>
                              </m:r>
                            </m:lim>
                          </m:limUpp>
                        </m:e>
                        <m:sub>
                          <m:r>
                            <a:rPr lang="en-US" sz="1500" i="1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∥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A1D2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500" y="1549400"/>
                <a:ext cx="11557000" cy="838200"/>
              </a:xfrm>
              <a:prstGeom prst="rect">
                <a:avLst/>
              </a:prstGeom>
              <a:blipFill rotWithShape="1">
                <a:blip r:embed="rId1"/>
                <a:stretch>
                  <a:fillRect t="-6136" b="-6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762000" y="2794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公式解读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238500"/>
            <a:ext cx="7112000" cy="3302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952500" y="3365500"/>
            <a:ext cx="6731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σc²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：聚类 c 内的方差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ēc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：聚类 c 的质心（平均嵌入）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：项目 x 的嵌入向量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|Cc|/|X|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：聚类 c 的权重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加权平均方差，衡量聚类内项目的语义一致性。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1200" y="2794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直觉理解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31200" y="3238500"/>
            <a:ext cx="7162800" cy="3302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8521700" y="3365500"/>
            <a:ext cx="67818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低失真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（高相干）：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嵌入相似的成员紧密聚集在质心附近。如"知更鸟"和"麻雀"作为相似的鸟紧密聚类。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高失真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（低相干）：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成员分散在嵌入空间中。如将"蝙蝠"与鸟类归为一类会增加失真。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858000"/>
            <a:ext cx="14732000" cy="1841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20" name="Shape 18"/>
          <p:cNvSpPr/>
          <p:nvPr/>
        </p:nvSpPr>
        <p:spPr>
          <a:xfrm>
            <a:off x="762000" y="6858000"/>
            <a:ext cx="50800" cy="18415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21" name="Text 19"/>
          <p:cNvSpPr/>
          <p:nvPr/>
        </p:nvSpPr>
        <p:spPr>
          <a:xfrm>
            <a:off x="1016000" y="6959600"/>
            <a:ext cx="14224000" cy="167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 RQ2（典型性结构）的连接</a:t>
            </a: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典型项目（如"知更鸟"）应紧密聚类在质心附近 → 对低失真贡献小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非典型项目（如"企鹅"）远离质心 → 对失真贡献大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低失真 + 清晰的中心-边缘结构 = 原型组织（人类般的典型性梯度）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框架与三个 RQ 的统一连接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762000" y="1460500"/>
            <a:ext cx="14732000" cy="2159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762000" y="1460500"/>
            <a:ext cx="50800" cy="2159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2" name="Text 10"/>
          <p:cNvSpPr/>
          <p:nvPr/>
        </p:nvSpPr>
        <p:spPr>
          <a:xfrm>
            <a:off x="1016000" y="15494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32000" y="154940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范畴对齐 → Complexity 项 I(X;C)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" y="1968500"/>
            <a:ext cx="14224000" cy="154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直接测量需要多少比特来指定个体项目给定其聚类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比较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I(X;C</a:t>
            </a:r>
            <a:r>
              <a:rPr lang="en-US" sz="1500" b="1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与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I(X;C</a:t>
            </a:r>
            <a:r>
              <a:rPr lang="en-US" sz="1500" b="1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揭示是否创建相似大小的分组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若 LLM 的复杂度显著低于人类 → 过度压缩，类别过于宽泛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若 LLM 的复杂度接近人类 → 范畴对齐良好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2000" y="3873500"/>
            <a:ext cx="14732000" cy="2159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762000" y="3873500"/>
            <a:ext cx="50800" cy="2159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7" name="Text 15"/>
          <p:cNvSpPr/>
          <p:nvPr/>
        </p:nvSpPr>
        <p:spPr>
          <a:xfrm>
            <a:off x="1016000" y="39624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32000" y="396240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典型性结构 → Distortion 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6000" y="4381500"/>
            <a:ext cx="14224000" cy="154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检查典型项目是否紧密聚类在质心附近，非典型项目远离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低失真 + 清晰的中心-边缘结构 =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原型组织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（人类般的典型性梯度）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结合 Spearman ρ 验证：嵌入相似度排序与人类典型性评分的一致性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若 LLM 呈现低失真 + 高 ρ → 具备人类般的典型性结构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2000" y="6286500"/>
            <a:ext cx="14732000" cy="2159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762000" y="6286500"/>
            <a:ext cx="50800" cy="21590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2" name="Text 20"/>
          <p:cNvSpPr/>
          <p:nvPr/>
        </p:nvSpPr>
        <p:spPr>
          <a:xfrm>
            <a:off x="1016000" y="63754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32000" y="637540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压缩-意义权衡 → 完整 L 目标函数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6000" y="6794500"/>
            <a:ext cx="14224000" cy="154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通过变化 K（聚类数）和计算 L 曲线，揭示系统优先级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激进压缩器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：迅速实现低 L 值但牺牲细微差别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语义丰富系统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：维持更高 L 值以保留语义丰富性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比较人类与 LLM 的 L-K 曲线形状 → 揭示压缩策略的根本差异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922500" y="8763000"/>
            <a:ext cx="8255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52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04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762000" cy="381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5" name="Text 3"/>
          <p:cNvSpPr/>
          <p:nvPr/>
        </p:nvSpPr>
        <p:spPr>
          <a:xfrm>
            <a:off x="762000" y="4572000"/>
            <a:ext cx="889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2000" y="5461000"/>
            <a:ext cx="1016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RQ1/RQ2/RQ3 实验结果、交叉分析与论文对比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 结果：范畴对齐（AMI）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个模型在 McCloskey1978 数据集上的 AMI 得分（n</a:t>
            </a:r>
            <a:r>
              <a:rPr lang="en-US" sz="15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100）。AMI = 1 表示聚类与人类标签完全一致。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762000" y="1841500"/>
          <a:ext cx="14732000" cy="5080000"/>
        </p:xfrm>
        <a:graphic>
          <a:graphicData uri="http://schemas.openxmlformats.org/drawingml/2006/table">
            <a:tbl>
              <a:tblPr/>
              <a:tblGrid>
                <a:gridCol w="4124960"/>
                <a:gridCol w="2209800"/>
                <a:gridCol w="1767840"/>
                <a:gridCol w="6629400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模型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类型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AMI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说明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word2vec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classic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0.552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经典嵌入最优，共现统计天然匹配词级分类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GloVe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classic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0.462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经典嵌入次优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gemma-2-9b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0.189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LLM 中最佳，但仅为 word2vec 的 34%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gpt2-medium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0.178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older 架构表现意外较好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roberta-large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0.125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编码器不总比同规模解码器好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Qwen2.5-1.5B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0.120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 系列中等水平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bert-base-uncased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0.119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 基线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Qwen2.5-32B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0.054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大模型反而更低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DeepSeek-R1-7B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0.054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蒸馏导致表示空间信息损失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phi-1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0.037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小型 decoder 偏低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bert-large-uncased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0.024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个模型中最低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7175500"/>
            <a:ext cx="14732000" cy="1270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3" name="Shape 10"/>
          <p:cNvSpPr/>
          <p:nvPr/>
        </p:nvSpPr>
        <p:spPr>
          <a:xfrm>
            <a:off x="762000" y="7175500"/>
            <a:ext cx="50800" cy="1270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4" name="Text 11"/>
          <p:cNvSpPr/>
          <p:nvPr/>
        </p:nvSpPr>
        <p:spPr>
          <a:xfrm>
            <a:off x="1016000" y="7277100"/>
            <a:ext cx="142240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关键观察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：经典嵌入（word2vec 0.552 / GloVe 0.462）大幅领先所有 LLM（最高 0.189）。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的 AMI 范围仅为 [0.024, 0.189]——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所有模型均高于随机基线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（≈0.0），确认 LLM 能捕捉范畴边界，但精度远低于经典嵌入。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 结果：范畴对齐（AMI）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个模型在 McCloskey1978 数据集上的 AMI 得分（n</a:t>
            </a:r>
            <a:r>
              <a:rPr lang="en-US" sz="15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100）。AMI = 1 表示聚类与人类标签完全一致。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2000" y="7175500"/>
            <a:ext cx="14732000" cy="1270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3" name="Shape 10"/>
          <p:cNvSpPr/>
          <p:nvPr/>
        </p:nvSpPr>
        <p:spPr>
          <a:xfrm>
            <a:off x="762000" y="7175500"/>
            <a:ext cx="50800" cy="1270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4" name="Text 11"/>
          <p:cNvSpPr/>
          <p:nvPr/>
        </p:nvSpPr>
        <p:spPr>
          <a:xfrm>
            <a:off x="1016000" y="7277100"/>
            <a:ext cx="142240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关键观察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：经典嵌入（word2vec 0.552 / GloVe 0.462）大幅领先所有 LLM（最高 0.189）。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的 AMI 范围仅为 [0.024, 0.189]——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所有模型均高于随机基线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（≈0.0），确认 LLM 能捕捉范畴边界，但精度远低于经典嵌入。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/ 33</a:t>
            </a:r>
            <a:endParaRPr lang="en-US" sz="1300" dirty="0"/>
          </a:p>
        </p:txBody>
      </p:sp>
      <p:pic>
        <p:nvPicPr>
          <p:cNvPr id="11" name="图片 10" descr="rq1_n100_combin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095" y="2337435"/>
            <a:ext cx="12703810" cy="44684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 分析：经典嵌入大幅领先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762000" y="1460500"/>
            <a:ext cx="14732000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762000" y="1460500"/>
            <a:ext cx="50800" cy="2286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2" name="Text 10"/>
          <p:cNvSpPr/>
          <p:nvPr/>
        </p:nvSpPr>
        <p:spPr>
          <a:xfrm>
            <a:off x="1016000" y="15494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发现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154940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经典嵌入大幅领先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" y="1968500"/>
            <a:ext cx="14224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word2vec（AMI=0.552）和 GloVe（0.462）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远超所有 LLM。原因在于训练目标的本质差异：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word2vec 以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词为单位的共现统计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作为目标，天然匹配词级别的分类任务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LLM 的上下文嵌入包含大量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句法、语用信息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，这些信息在类别判别中是噪声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经典嵌入直接优化词-词关系，而 LLM 优化的是序列生成能力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2000" y="3873500"/>
            <a:ext cx="14732000" cy="266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762000" y="3873500"/>
            <a:ext cx="50800" cy="2667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7" name="Text 15"/>
          <p:cNvSpPr/>
          <p:nvPr/>
        </p:nvSpPr>
        <p:spPr>
          <a:xfrm>
            <a:off x="1016000" y="39624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发现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962400"/>
            <a:ext cx="635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间差异有规律但不大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6000" y="4381500"/>
            <a:ext cx="14224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的 AMI 范围仅为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[0.024, 0.189]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，跨度 0.165。几个有趣的趋势：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较小模型意外更好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：gemma-2-9b（0.189）&gt; gemma-2-2b（0.096），gpt2-medium（0.178）&gt; gpt2（0.170）——但差距不大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 系列规模不敏感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：0.5B 到 32B 全部在 0.045~0.120 之间，参数量与 AMI 无明显正相关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编码器 vs 解码器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：RoBERTa/DeBERTa 并不总比等规模解码器好（roberta-large 0.125 vs Qwen2-7B 0.117）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DeepSeek 系列偏低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：三个蒸馏版均低于 0.055，可能是蒸馏导致的表示空间信息损失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2000" y="6604000"/>
            <a:ext cx="14732000" cy="1841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21" name="Shape 19"/>
          <p:cNvSpPr/>
          <p:nvPr/>
        </p:nvSpPr>
        <p:spPr>
          <a:xfrm>
            <a:off x="762000" y="6604000"/>
            <a:ext cx="50800" cy="18415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22" name="Text 20"/>
          <p:cNvSpPr/>
          <p:nvPr/>
        </p:nvSpPr>
        <p:spPr>
          <a:xfrm>
            <a:off x="1016000" y="6705600"/>
            <a:ext cx="14224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与论文的一致性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论文报告 40+ 个模型 AMI 均高于随机，我们确认 24 个模型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全部高于随机基线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（McCloskey1978 随机期望 AMI ≈ 0.0）。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经典嵌入最优的结论也得到确认。编码器-解码器差距在论文中更显著（论文有更大规模的编码器），我们的编码器规模较小导致差距不明显。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RQ2 结果：典型性结构（Spearman ρ）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嵌入相似度与人类典型性评分的 Spearman 秩相关系数 ρ。ρ = 1 表示完全一致，p &lt; 0.05 为显著。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762000" y="1841500"/>
          <a:ext cx="14732000" cy="5080000"/>
        </p:xfrm>
        <a:graphic>
          <a:graphicData uri="http://schemas.openxmlformats.org/drawingml/2006/table">
            <a:tbl>
              <a:tblPr/>
              <a:tblGrid>
                <a:gridCol w="4124960"/>
                <a:gridCol w="2209800"/>
                <a:gridCol w="2209800"/>
                <a:gridCol w="6187440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模型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类型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ρ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 值 / 显著性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GloVe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classic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0.372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2×10⁻¹⁷，高度显著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word2vec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classic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0.344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4×10⁻¹⁵，高度显著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gemma-2-9b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0.197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1×10⁻⁵，显著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gemma-2-2b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0.188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3×10⁻⁵，显著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roberta-large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0.176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9×10⁻⁵，显著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0.157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5×10⁻⁴，显著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bert-base-uncased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0.135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3×10⁻³，显著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Qwen2-7B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0.124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6×10⁻³，显著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Qwen2.5-0.5B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0.114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1×10⁻²，边缘显著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Qwen2.5-32B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0.034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0.45，不显著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DeepSeek-R1-D-32B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0.035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0.44，不显著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7175500"/>
            <a:ext cx="14732000" cy="1270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3" name="Shape 10"/>
          <p:cNvSpPr/>
          <p:nvPr/>
        </p:nvSpPr>
        <p:spPr>
          <a:xfrm>
            <a:off x="762000" y="7175500"/>
            <a:ext cx="50800" cy="1270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4" name="Text 11"/>
          <p:cNvSpPr/>
          <p:nvPr/>
        </p:nvSpPr>
        <p:spPr>
          <a:xfrm>
            <a:off x="1016000" y="7277100"/>
            <a:ext cx="142240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关键观察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：即使最优 LLM（gemma-2-9b，ρ = 0.197）也只能解释不到 4% 的典型性变异（R² ≈ 0.04）。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大型模型（Qwen2.5-32B、DeepSeek-R1-D-32B）的 ρ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不显著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——模型越大，典型性预测能力越弱。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RQ2 结果：典型性结构（Spearman ρ）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嵌入相似度与人类典型性评分的 Spearman 秩相关系数 ρ。ρ = 1 表示完全一致，p &lt; 0.05 为显著。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12800" y="7175500"/>
            <a:ext cx="14732000" cy="1270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3" name="Shape 10"/>
          <p:cNvSpPr/>
          <p:nvPr/>
        </p:nvSpPr>
        <p:spPr>
          <a:xfrm>
            <a:off x="762000" y="7175500"/>
            <a:ext cx="50800" cy="1270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4" name="Text 11"/>
          <p:cNvSpPr/>
          <p:nvPr/>
        </p:nvSpPr>
        <p:spPr>
          <a:xfrm>
            <a:off x="1016000" y="7277100"/>
            <a:ext cx="142240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关键观察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：即使最优 LLM（gemma-2-9b，ρ = 0.197）也只能解释不到 4% 的典型性变异（R² ≈ 0.04）。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大型模型（Qwen2.5-32B、DeepSeek-R1-D-32B）的 ρ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不显著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——模型越大，典型性预测能力越弱。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/ 33</a:t>
            </a:r>
            <a:endParaRPr lang="en-US" sz="1300" dirty="0"/>
          </a:p>
        </p:txBody>
      </p:sp>
      <p:pic>
        <p:nvPicPr>
          <p:cNvPr id="11" name="图片 10" descr="rq2_spearman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825" y="2006600"/>
            <a:ext cx="12978765" cy="45650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RQ2 结果：典型性结构（Spearman ρ）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嵌入相似度与人类典型性评分的 Spearman 秩相关系数 ρ。ρ = 1 表示完全一致，p &lt; 0.05 为显著。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12800" y="7175500"/>
            <a:ext cx="14732000" cy="1270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3" name="Shape 10"/>
          <p:cNvSpPr/>
          <p:nvPr/>
        </p:nvSpPr>
        <p:spPr>
          <a:xfrm>
            <a:off x="762000" y="7175500"/>
            <a:ext cx="50800" cy="1270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4" name="Text 11"/>
          <p:cNvSpPr/>
          <p:nvPr/>
        </p:nvSpPr>
        <p:spPr>
          <a:xfrm>
            <a:off x="1016000" y="7277100"/>
            <a:ext cx="142240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关键观察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几乎所有模型在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Rosch1975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 和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Rosch1973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 数据集上呈现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负相关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趋势。原因：这两个数据集的类别间区分度更高、类别内样本更少（Rosch1973 仅 48 个条目），典型性评分的统计噪声主导了相关性。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McCloskey1978（449 个条目，18 个类别）的数据量更充足，因此成为最可靠的评估基准。</a:t>
            </a:r>
            <a:endParaRPr lang="en-US" sz="1500" dirty="0"/>
          </a:p>
          <a:p>
            <a:pPr algn="l">
              <a:lnSpc>
                <a:spcPct val="160000"/>
              </a:lnSpc>
            </a:pP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/ 33</a:t>
            </a:r>
            <a:endParaRPr lang="en-US" sz="1300" dirty="0"/>
          </a:p>
        </p:txBody>
      </p:sp>
      <p:pic>
        <p:nvPicPr>
          <p:cNvPr id="16" name="图片 15" descr="rq2_by_datas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70" y="2489200"/>
            <a:ext cx="15302230" cy="4190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RQ2 分析：典型性预测能力普遍很弱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762000" y="1422400"/>
            <a:ext cx="7175500" cy="165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762000" y="1422400"/>
            <a:ext cx="50800" cy="1651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2" name="Text 10"/>
          <p:cNvSpPr/>
          <p:nvPr/>
        </p:nvSpPr>
        <p:spPr>
          <a:xfrm>
            <a:off x="1016000" y="1498600"/>
            <a:ext cx="127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发现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1498600"/>
            <a:ext cx="5461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典型性预测能力普遍很弱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1879600"/>
            <a:ext cx="6731000" cy="1092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最优 LLM（gemma-2-9b，ρ = 0.197）只能解释不到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4%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的典型性变异。LLM 能有效区分类别边界（RQ1），但几乎无法捕捉类别内部的典型性层级。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91500" y="1422400"/>
            <a:ext cx="7302500" cy="165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8191500" y="1422400"/>
            <a:ext cx="50800" cy="1651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7" name="Text 15"/>
          <p:cNvSpPr/>
          <p:nvPr/>
        </p:nvSpPr>
        <p:spPr>
          <a:xfrm>
            <a:off x="8445500" y="1498600"/>
            <a:ext cx="127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发现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15500" y="1498600"/>
            <a:ext cx="558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经典嵌入再次领先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45500" y="1879600"/>
            <a:ext cx="6858000" cy="1092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word2vec（ρ = 0.344）和 GloVe（0.372）统计上优于所有 LLM。词共现统计天然编码典型性——更典型的成员在共现语料中更频繁地与类别名同时出现。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3327400"/>
            <a:ext cx="14732000" cy="165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762000" y="3327400"/>
            <a:ext cx="50800" cy="16510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2" name="Text 20"/>
          <p:cNvSpPr/>
          <p:nvPr/>
        </p:nvSpPr>
        <p:spPr>
          <a:xfrm>
            <a:off x="1016000" y="3403600"/>
            <a:ext cx="127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发现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3403600"/>
            <a:ext cx="635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模型大小与典型性负相关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3784600"/>
            <a:ext cx="14224000" cy="1092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 系列中，ρ 随模型规模增大而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下降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：0.5B（ρ = 0.114）→ 32B（ρ = 0.034，不显著）。DeepSeek 蒸馏版同样：7B（0.059）→ 32B（0.035）。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大模型习得更多句法、语用和世界知识，这些与典型性无关，却占据嵌入空间主要维度——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率失真折衷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：更大容量被用来编码更丰富的语言现象，反而削弱了对特定语义属性的聚焦。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2000" y="5232400"/>
            <a:ext cx="14732000" cy="165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762000" y="5232400"/>
            <a:ext cx="50800" cy="16510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27" name="Text 25"/>
          <p:cNvSpPr/>
          <p:nvPr/>
        </p:nvSpPr>
        <p:spPr>
          <a:xfrm>
            <a:off x="1016000" y="5308600"/>
            <a:ext cx="127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发现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0" y="5308600"/>
            <a:ext cx="635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跨数据集不一致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5689600"/>
            <a:ext cx="14224000" cy="1092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几乎所有模型在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Rosch1975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和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Rosch1973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数据集上呈现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负相关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趋势。原因：这两个数据集的类别间区分度更高、类别内样本更少（Rosch1973 仅 48 个条目），典型性评分的统计噪声主导了相关性。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McCloskey1978（449 个条目，18 个类别）的数据量更充足，因此成为最可靠的评估基准。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7175500"/>
            <a:ext cx="14732000" cy="1270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31" name="Shape 29"/>
          <p:cNvSpPr/>
          <p:nvPr/>
        </p:nvSpPr>
        <p:spPr>
          <a:xfrm>
            <a:off x="762000" y="7175500"/>
            <a:ext cx="50800" cy="12700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2" name="Text 30"/>
          <p:cNvSpPr/>
          <p:nvPr/>
        </p:nvSpPr>
        <p:spPr>
          <a:xfrm>
            <a:off x="1016000" y="7277100"/>
            <a:ext cx="142240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信息论视角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：典型性是类别条件分布 p(x|y) 下不同样本的信息密度差异。中心成员具有高先验概率（更可预测），−log p(x|y) 较低。实验结果表明 LLM 嵌入更关注类别间边界（由 I(X;Y) 捕捉），而非类别内部信息密度梯度——这与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DPI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一致：聚类操作丢弃了大部分信息，典型性正是这些被丢弃信息的组成部分。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922500" y="8763000"/>
            <a:ext cx="8255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 结果：压缩-意义权衡（L 曲线）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各模型在 k = 18（人类类别数）处的 L 值。L(k) = I(X;C) + β·D(k)，β = 1.0。</a:t>
            </a:r>
            <a:endParaRPr lang="en-US" sz="1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762000" y="1841500"/>
          <a:ext cx="14732000" cy="4826000"/>
        </p:xfrm>
        <a:graphic>
          <a:graphicData uri="http://schemas.openxmlformats.org/drawingml/2006/table">
            <a:tbl>
              <a:tblPr/>
              <a:tblGrid>
                <a:gridCol w="4124960"/>
                <a:gridCol w="2209800"/>
                <a:gridCol w="2651760"/>
                <a:gridCol w="5745480"/>
              </a:tblGrid>
              <a:tr h="3860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模型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类型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L（k=18）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家族分组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4.55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gpt2-medium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4.47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roberta-large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4.40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BERT-like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gemma-2-9b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4.20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Gemma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Qwen2.5-32B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4.23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DeepSeek-R1-D-14B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4.20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DeepSeek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phi-2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Phi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bert-base-uncased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4.18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BERT-like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Qwen2.5-0.5B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decoder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4.15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Qwen（最小）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word2vec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classic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12.13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classic（高出 3×）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2334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GloVe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classic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37.93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classic（高出 9×）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6921500"/>
            <a:ext cx="14732000" cy="1587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3" name="Shape 10"/>
          <p:cNvSpPr/>
          <p:nvPr/>
        </p:nvSpPr>
        <p:spPr>
          <a:xfrm>
            <a:off x="762000" y="6921500"/>
            <a:ext cx="50800" cy="15875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14" name="Text 11"/>
          <p:cNvSpPr/>
          <p:nvPr/>
        </p:nvSpPr>
        <p:spPr>
          <a:xfrm>
            <a:off x="1016000" y="7023100"/>
            <a:ext cx="1422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曲线特征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：L(k) 整体随 k 单调递减但斜率逐渐变缓——增加簇数带来的边际收益递减。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人类的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18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恰好落在"快速下降"过渡到"缓慢下降"的区域，即边际收益递减的过渡区。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所有 LLM 的 L 曲线形状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高度一致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，说明这是 Transformer 静态嵌入的固有几何属性。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 结果：压缩-意义权衡（L 曲线）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2" name="Shape 9"/>
          <p:cNvSpPr/>
          <p:nvPr/>
        </p:nvSpPr>
        <p:spPr>
          <a:xfrm>
            <a:off x="762000" y="6921500"/>
            <a:ext cx="14732000" cy="1587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3" name="Shape 10"/>
          <p:cNvSpPr/>
          <p:nvPr/>
        </p:nvSpPr>
        <p:spPr>
          <a:xfrm>
            <a:off x="762000" y="6921500"/>
            <a:ext cx="50800" cy="15875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14" name="Text 11"/>
          <p:cNvSpPr/>
          <p:nvPr/>
        </p:nvSpPr>
        <p:spPr>
          <a:xfrm>
            <a:off x="1016000" y="7023100"/>
            <a:ext cx="1422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endParaRPr lang="en-US" sz="1500" b="1" dirty="0">
              <a:solidFill>
                <a:srgbClr val="1A1D23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曲线特征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r>
              <a:rPr lang="zh-CN" alt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全部 24 个模型的叠加 </a:t>
            </a:r>
            <a:r>
              <a:rPr lang="en-US" altLang="zh-CN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</a:t>
            </a:r>
            <a:r>
              <a:rPr lang="zh-CN" alt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曲线。经典嵌入在独立坐标上显示。每条曲线的终点并非收敛——只是展示到 </a:t>
            </a:r>
            <a:r>
              <a:rPr lang="en-US" altLang="zh-CN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50。</a:t>
            </a:r>
            <a:endParaRPr lang="en-US" altLang="zh-CN" sz="1500" dirty="0">
              <a:solidFill>
                <a:srgbClr val="1A1D23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 / 33</a:t>
            </a:r>
            <a:endParaRPr lang="en-US" sz="1300" dirty="0"/>
          </a:p>
        </p:txBody>
      </p:sp>
      <p:pic>
        <p:nvPicPr>
          <p:cNvPr id="11" name="图片 10" descr="rq3_L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5345" y="1392555"/>
            <a:ext cx="8542655" cy="52749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 分析：模型家族对比与规模关系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4224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模型家族 L 统计（表 4）</a:t>
            </a:r>
            <a:endParaRPr lang="en-US" sz="1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762000" y="1803400"/>
          <a:ext cx="7175500" cy="3175000"/>
        </p:xfrm>
        <a:graphic>
          <a:graphicData uri="http://schemas.openxmlformats.org/drawingml/2006/table">
            <a:tbl>
              <a:tblPr/>
              <a:tblGrid>
                <a:gridCol w="2511425"/>
                <a:gridCol w="861060"/>
                <a:gridCol w="2009140"/>
                <a:gridCol w="1793875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家族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数量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均值 L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范围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 系列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4.18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[4.15, 4.23]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Gemma 系列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4.21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[4.20, 4.21]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 系列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4.51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[4.47, 4.55]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Phi 系列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4.23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[4.22, 4.23]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BERT/RoBERTa/DeBERTa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4.23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[4.16, 4.40]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DeepSeek-R1 蒸馏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4.20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[4.20, 4.21]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经典嵌入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25.03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[12.13, 37.93]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331200" y="14224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与参数量的关系（表 5）</a:t>
            </a:r>
            <a:endParaRPr lang="en-US" sz="17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/>
        </p:nvGraphicFramePr>
        <p:xfrm>
          <a:off x="8331200" y="1803400"/>
          <a:ext cx="7162800" cy="3175000"/>
        </p:xfrm>
        <a:graphic>
          <a:graphicData uri="http://schemas.openxmlformats.org/drawingml/2006/table">
            <a:tbl>
              <a:tblPr/>
              <a:tblGrid>
                <a:gridCol w="2865120"/>
                <a:gridCol w="1432560"/>
                <a:gridCol w="286512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模型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参数量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Qwen2.5-0.5B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4.15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Qwen2.5-32B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32B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4.23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差距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64×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+0.08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124M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4.55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bert-large-uncased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340M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4.19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DeepSeek-R1-D-32B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32B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4.21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Pearson 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−0.121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62000" y="5308600"/>
            <a:ext cx="14732000" cy="1714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5" name="Shape 11"/>
          <p:cNvSpPr/>
          <p:nvPr/>
        </p:nvSpPr>
        <p:spPr>
          <a:xfrm>
            <a:off x="762000" y="5308600"/>
            <a:ext cx="50800" cy="17145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16" name="Text 12"/>
          <p:cNvSpPr/>
          <p:nvPr/>
        </p:nvSpPr>
        <p:spPr>
          <a:xfrm>
            <a:off x="1016000" y="5410200"/>
            <a:ext cx="14224000" cy="154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核心结论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：模型规模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完全不能预测 L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。0.5B 的 Qwen2.5-0.5B（L = 4.15）与 32B 的 Qwen2.5-32B（L = 4.23）仅相差 0.08——远小于同一数据集中不同随机种子带来的方差。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Pearson r =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−0.121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（p ≫ 0.05），参数量与 L 几乎无关。这说明 L 衡量的不是智能水平或表示质量，而是嵌入空间的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基本几何属性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——所有基于 Transformer 的语言模型在静态嵌入上的压缩-失真权衡曲线形状几乎一致。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62000" y="7112000"/>
            <a:ext cx="14732000" cy="1333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4"/>
          <p:cNvSpPr/>
          <p:nvPr/>
        </p:nvSpPr>
        <p:spPr>
          <a:xfrm>
            <a:off x="762000" y="7112000"/>
            <a:ext cx="50800" cy="13335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19" name="Text 15"/>
          <p:cNvSpPr/>
          <p:nvPr/>
        </p:nvSpPr>
        <p:spPr>
          <a:xfrm>
            <a:off x="1016000" y="7213600"/>
            <a:ext cx="14224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 系列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（12 个模型，最大模型群）：覆盖 4 个架构版本，参数规模 0.5B~32B。L 的标准差仅 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0.025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——12 个模型在 L 上几乎无法区分。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 系列偏高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：gpt2 和 gpt2-medium 的 L 分别为 4.55 和 4.47，略高于其他 LLM。可能因为它们是最老的模型（2019），训练数据较少、嵌入精炼程度较低。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 核心发现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762000" y="1460500"/>
            <a:ext cx="14732000" cy="2159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762000" y="1460500"/>
            <a:ext cx="50800" cy="2159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2" name="Text 10"/>
          <p:cNvSpPr/>
          <p:nvPr/>
        </p:nvSpPr>
        <p:spPr>
          <a:xfrm>
            <a:off x="1016000" y="15494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发现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154940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嵌入同质性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" y="1968500"/>
            <a:ext cx="14224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个 Transformer 模型的 L 值集中在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[4.15, 4.55]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——跨度仅 0.40。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模型大小（0.5B → 32B）、架构（encoder → decoder）、家族（Qwen → GPT → Gemma → DeepSeek）、训练数据量对 L 的影响在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测量误差水平以下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所有 LLM 的静态嵌入在压缩-意义框架下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几乎是等价的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 衡量的是嵌入空间的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固有几何属性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，而非对齐质量或智能水平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2000" y="3873500"/>
            <a:ext cx="14732000" cy="2095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762000" y="3873500"/>
            <a:ext cx="50800" cy="20955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7" name="Text 15"/>
          <p:cNvSpPr/>
          <p:nvPr/>
        </p:nvSpPr>
        <p:spPr>
          <a:xfrm>
            <a:off x="1016000" y="39624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发现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96240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经典嵌入完全不同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6000" y="4381500"/>
            <a:ext cx="14224000" cy="158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word2vec（L = 12.13）和 GloVe（37.93）高出 LLM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到 9 倍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word2vec 的嵌入是 50 维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标准化词向量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，每个词只有一个向量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LLM 的静态嵌入是 768-7168 维的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上下文平均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，每个词在不同句子中不同但被平均到同一个向量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后者的语义区分度更高但也更"平滑"，导致 L 更低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2000" y="6096000"/>
            <a:ext cx="14732000" cy="2159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762000" y="6096000"/>
            <a:ext cx="50800" cy="21590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2" name="Text 20"/>
          <p:cNvSpPr/>
          <p:nvPr/>
        </p:nvSpPr>
        <p:spPr>
          <a:xfrm>
            <a:off x="1016000" y="61849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发现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86000" y="6184900"/>
            <a:ext cx="762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人类的 k = 18 在规律性区域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6000" y="6604000"/>
            <a:ext cx="14224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18 并非严格的数学拐点，但它恰好位于所有 LLM 的 L 曲线从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"快速下降"过渡到"缓慢下降"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的区域。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当 k 很小时（k &lt; 5），增加一个簇能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大幅降低失真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（D(k) 快速下降）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当 k 很大时（k &gt; 30），增加簇的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边际失真改善趋近于零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人类选择的 k = 18 恰好落在这个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边际收益递减的过渡区域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——从信息论角度，这个拐点对应率失真函数 R(D) 的斜率开始快速增加的区域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RQ1、RQ2 与 RQ3 交叉分析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Text 8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AMI、L 和 Spearman ρ 三者的相关性矩阵（表 6）。全模型 vs 仅 LLM 的 Pearson 相关系数。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762000" y="1905000"/>
          <a:ext cx="14732000" cy="2286000"/>
        </p:xfrm>
        <a:graphic>
          <a:graphicData uri="http://schemas.openxmlformats.org/drawingml/2006/table">
            <a:tbl>
              <a:tblPr/>
              <a:tblGrid>
                <a:gridCol w="4419600"/>
                <a:gridCol w="3388360"/>
                <a:gridCol w="3388360"/>
                <a:gridCol w="35356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关系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全部模型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仅 LLM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说明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AMI 与 L 的 Pearson 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+0.402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−0.131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两类嵌入 outlier 驱动正向相关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AMI 与 ρ 的 Pearson 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+0.880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+0.619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AMI 高则典型性对齐也好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 与 ρ 的 Pearson r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+0.351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−0.232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仅全模型时相关，排除经典嵌入后无关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4508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三层级关系解读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2000" y="4953000"/>
            <a:ext cx="4572000" cy="165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1"/>
          <p:cNvSpPr/>
          <p:nvPr/>
        </p:nvSpPr>
        <p:spPr>
          <a:xfrm>
            <a:off x="762000" y="4953000"/>
            <a:ext cx="50800" cy="16510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5" name="Text 12"/>
          <p:cNvSpPr/>
          <p:nvPr/>
        </p:nvSpPr>
        <p:spPr>
          <a:xfrm>
            <a:off x="965200" y="5054600"/>
            <a:ext cx="4191000" cy="144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AMI（RQ1）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衡量聚类结果与人类标签的对齐程度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语义层面的匹配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类别边界是否对齐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61000" y="5588000"/>
            <a:ext cx="381000" cy="25400"/>
          </a:xfrm>
          <a:prstGeom prst="rect">
            <a:avLst/>
          </a:prstGeom>
          <a:solidFill>
            <a:srgbClr val="7A8B9E"/>
          </a:solidFill>
        </p:spPr>
      </p:sp>
      <p:sp>
        <p:nvSpPr>
          <p:cNvPr id="17" name="Shape 14"/>
          <p:cNvSpPr/>
          <p:nvPr/>
        </p:nvSpPr>
        <p:spPr>
          <a:xfrm>
            <a:off x="5969000" y="4953000"/>
            <a:ext cx="4572000" cy="165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5"/>
          <p:cNvSpPr/>
          <p:nvPr/>
        </p:nvSpPr>
        <p:spPr>
          <a:xfrm>
            <a:off x="5969000" y="4953000"/>
            <a:ext cx="50800" cy="16510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9" name="Text 16"/>
          <p:cNvSpPr/>
          <p:nvPr/>
        </p:nvSpPr>
        <p:spPr>
          <a:xfrm>
            <a:off x="6172200" y="5054600"/>
            <a:ext cx="4191000" cy="144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ρ（RQ2）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衡量嵌入相似度与典型性排序的一致性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细粒度匹配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类别内排序是否对齐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668000" y="5588000"/>
            <a:ext cx="381000" cy="25400"/>
          </a:xfrm>
          <a:prstGeom prst="rect">
            <a:avLst/>
          </a:prstGeom>
          <a:solidFill>
            <a:srgbClr val="7A8B9E"/>
          </a:solidFill>
        </p:spPr>
      </p:sp>
      <p:sp>
        <p:nvSpPr>
          <p:cNvPr id="21" name="Shape 18"/>
          <p:cNvSpPr/>
          <p:nvPr/>
        </p:nvSpPr>
        <p:spPr>
          <a:xfrm>
            <a:off x="11176000" y="4953000"/>
            <a:ext cx="4318000" cy="165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Shape 19"/>
          <p:cNvSpPr/>
          <p:nvPr/>
        </p:nvSpPr>
        <p:spPr>
          <a:xfrm>
            <a:off x="11176000" y="4953000"/>
            <a:ext cx="50800" cy="16510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3" name="Text 20"/>
          <p:cNvSpPr/>
          <p:nvPr/>
        </p:nvSpPr>
        <p:spPr>
          <a:xfrm>
            <a:off x="11379200" y="5054600"/>
            <a:ext cx="3937000" cy="144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L（RQ3）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衡量嵌入空间的几何压缩属性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信息论结构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压缩-失真权衡曲线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62000" y="6921500"/>
            <a:ext cx="14732000" cy="15240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25" name="Shape 22"/>
          <p:cNvSpPr/>
          <p:nvPr/>
        </p:nvSpPr>
        <p:spPr>
          <a:xfrm>
            <a:off x="762000" y="6921500"/>
            <a:ext cx="50800" cy="15240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26" name="Text 23"/>
          <p:cNvSpPr/>
          <p:nvPr/>
        </p:nvSpPr>
        <p:spPr>
          <a:xfrm>
            <a:off x="1016000" y="7023100"/>
            <a:ext cx="14224000" cy="1320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关键洞察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：AMI 与 ρ 的中等正相关（r = 0.619，仅 LLM）是预期的——两者都反映嵌入空间与人类认知结构之间的匹配程度，只是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粒度不同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（类别边界 vs 类别内排序）。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与另两者几乎无关，进一步确认了 L 衡量的并非"对齐"，而是嵌入空间的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固有几何属性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与论文结论对比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762000" y="1460500"/>
          <a:ext cx="14732000" cy="4874260"/>
        </p:xfrm>
        <a:graphic>
          <a:graphicData uri="http://schemas.openxmlformats.org/drawingml/2006/table">
            <a:tbl>
              <a:tblPr/>
              <a:tblGrid>
                <a:gridCol w="3241040"/>
                <a:gridCol w="4419600"/>
                <a:gridCol w="707136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论文主张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原文结论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复现结果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LLM 聚类能捕捉范畴边界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AMI &gt; chance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确认：24 个模型全部高于随机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经典嵌入最优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word2vec/GloVe 领先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确认：AMI = 0.46–0.55，远超 LLM 的 0.02–0.19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编码器匹配大 100× 解码器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roberta-like encoders match smaller decoders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弱支持</a:t>
                      </a:r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：差距远小于论文（我们的编码器规模较小）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典型性预测 ρ &gt; chance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McCloskey1978 上 ρ &gt; 0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确认：但数值极低（&lt; 0.2），大模型不显著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典型性与类别无关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编码器 vs 解码器无显著差异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确认：跨数据集不一致，Rosch1975/1973 为负相关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LLM L 收敛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 仅在一个很窄范围内变化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强确认</a:t>
                      </a:r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：L ∈ [4.15, 4.55]，跨 22 个模型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0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人类 k 在曲线拐点附近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854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新确认</a:t>
                      </a:r>
                      <a:r>
                        <a:rPr lang="en-US" sz="1400" dirty="0">
                          <a:solidFill>
                            <a:srgbClr val="1A1D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：k = 18 在边际收益递减区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62000" y="6604000"/>
            <a:ext cx="14732000" cy="1841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12" name="Shape 9"/>
          <p:cNvSpPr/>
          <p:nvPr/>
        </p:nvSpPr>
        <p:spPr>
          <a:xfrm>
            <a:off x="762000" y="6604000"/>
            <a:ext cx="50800" cy="18415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3" name="Text 10"/>
          <p:cNvSpPr/>
          <p:nvPr/>
        </p:nvSpPr>
        <p:spPr>
          <a:xfrm>
            <a:off x="1016000" y="6705600"/>
            <a:ext cx="14224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新发现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（超出论文原结论）：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模型大小完全不影响 L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：Pearson r = −0.121，p ≫ 0.05。L 是嵌入空间的几何属性，与模型能力无关。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蒸馏损害表示质量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：DeepSeek-R1 蒸馏版的 AMI 和 ρ 均显著低于同等规模的 base 模型。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经典嵌入与 LLM 是两类完全不同的系统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：在 AMI、ρ、L 三个指标上，经典嵌入始终作为 outlier 出现，不应混为一谈。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4922500" y="8763000"/>
            <a:ext cx="8255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限制与讨论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762000" y="1460500"/>
            <a:ext cx="7175500" cy="146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762000" y="1460500"/>
            <a:ext cx="50800" cy="14605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1016000" y="1524000"/>
            <a:ext cx="38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1397000" y="1524000"/>
            <a:ext cx="6350000" cy="1295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n</a:t>
            </a:r>
            <a:r>
              <a:rPr lang="en-US" sz="1400" b="1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init</a:t>
            </a: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 选择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：n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init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 = 100 vs 论文 n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init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 = 10。提高 n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init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 仅轻微改善结果（高维数据集上提升 &lt; 0.01 AMI），说明论文的 n</a:t>
            </a:r>
            <a:r>
              <a:rPr lang="en-US" sz="1400" baseline="-400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init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 = 10 足够稳定。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5"/>
            </p:custDataLst>
          </p:nvPr>
        </p:nvSpPr>
        <p:spPr>
          <a:xfrm>
            <a:off x="8191500" y="1460500"/>
            <a:ext cx="7302500" cy="146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3"/>
          <p:cNvSpPr/>
          <p:nvPr>
            <p:custDataLst>
              <p:tags r:id="rId6"/>
            </p:custDataLst>
          </p:nvPr>
        </p:nvSpPr>
        <p:spPr>
          <a:xfrm>
            <a:off x="8191500" y="1460500"/>
            <a:ext cx="50800" cy="1460500"/>
          </a:xfrm>
          <a:prstGeom prst="rect">
            <a:avLst/>
          </a:prstGeom>
          <a:solidFill>
            <a:srgbClr val="5A7D6F"/>
          </a:solidFill>
        </p:spPr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8445500" y="1524000"/>
            <a:ext cx="38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5A7D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8826500" y="1524000"/>
            <a:ext cx="6477000" cy="1295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模型覆盖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：缺少 16 个模型（论文 40+，我们 24 个）。缺少 Llama、Mistral、CLIP 等。不过由于 LLM L 的高度收敛，预计缺失模型不会改变定性结论。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</p:txBody>
      </p:sp>
      <p:sp>
        <p:nvSpPr>
          <p:cNvPr id="18" name="Shape 16"/>
          <p:cNvSpPr/>
          <p:nvPr>
            <p:custDataLst>
              <p:tags r:id="rId9"/>
            </p:custDataLst>
          </p:nvPr>
        </p:nvSpPr>
        <p:spPr>
          <a:xfrm>
            <a:off x="762000" y="3149600"/>
            <a:ext cx="7175500" cy="146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762000" y="3149600"/>
            <a:ext cx="50800" cy="1460500"/>
          </a:xfrm>
          <a:prstGeom prst="rect">
            <a:avLst/>
          </a:prstGeom>
          <a:solidFill>
            <a:srgbClr val="C4945A"/>
          </a:solidFill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1016000" y="3213100"/>
            <a:ext cx="38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94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1397000" y="3213100"/>
            <a:ext cx="6350000" cy="1295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β 敏感性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：固定 β = 1.0。β 的不同取值会改变 L 的绝对数值，但跨模型的相对排序应保持稳定。更严格的分析应扫描 β 的全范围。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</p:txBody>
      </p:sp>
      <p:sp>
        <p:nvSpPr>
          <p:cNvPr id="22" name="Shape 20"/>
          <p:cNvSpPr/>
          <p:nvPr>
            <p:custDataLst>
              <p:tags r:id="rId13"/>
            </p:custDataLst>
          </p:nvPr>
        </p:nvSpPr>
        <p:spPr>
          <a:xfrm>
            <a:off x="8191500" y="3149600"/>
            <a:ext cx="7302500" cy="146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21"/>
          <p:cNvSpPr/>
          <p:nvPr>
            <p:custDataLst>
              <p:tags r:id="rId14"/>
            </p:custDataLst>
          </p:nvPr>
        </p:nvSpPr>
        <p:spPr>
          <a:xfrm>
            <a:off x="8191500" y="3149600"/>
            <a:ext cx="50800" cy="14605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8445500" y="3213100"/>
            <a:ext cx="38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>
            <p:custDataLst>
              <p:tags r:id="rId16"/>
            </p:custDataLst>
          </p:nvPr>
        </p:nvSpPr>
        <p:spPr>
          <a:xfrm>
            <a:off x="8826500" y="3213100"/>
            <a:ext cx="6477000" cy="1295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信息论简化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sym typeface="+mn-ea"/>
              </a:rPr>
              <a:t>：将 I(X;C) 近似为 log₂k，用 D(k) 替代 IB 中的 −I(C;Y)。更严格的做法是使用 Blahut-Arimoto 算法直接计算率失真函数。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</p:txBody>
      </p:sp>
      <p:sp>
        <p:nvSpPr>
          <p:cNvPr id="26" name="Shape 24"/>
          <p:cNvSpPr/>
          <p:nvPr>
            <p:custDataLst>
              <p:tags r:id="rId17"/>
            </p:custDataLst>
          </p:nvPr>
        </p:nvSpPr>
        <p:spPr>
          <a:xfrm>
            <a:off x="762000" y="4838700"/>
            <a:ext cx="7175500" cy="146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5"/>
          <p:cNvSpPr/>
          <p:nvPr>
            <p:custDataLst>
              <p:tags r:id="rId18"/>
            </p:custDataLst>
          </p:nvPr>
        </p:nvSpPr>
        <p:spPr>
          <a:xfrm>
            <a:off x="762000" y="4838700"/>
            <a:ext cx="50800" cy="14605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28" name="Text 26"/>
          <p:cNvSpPr/>
          <p:nvPr>
            <p:custDataLst>
              <p:tags r:id="rId19"/>
            </p:custDataLst>
          </p:nvPr>
        </p:nvSpPr>
        <p:spPr>
          <a:xfrm>
            <a:off x="1016000" y="4902200"/>
            <a:ext cx="38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B854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>
            <p:custDataLst>
              <p:tags r:id="rId20"/>
            </p:custDataLst>
          </p:nvPr>
        </p:nvSpPr>
        <p:spPr>
          <a:xfrm>
            <a:off x="1397000" y="4902200"/>
            <a:ext cx="6350000" cy="1295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endParaRPr lang="en-US" sz="1400" dirty="0"/>
          </a:p>
        </p:txBody>
      </p:sp>
      <p:sp>
        <p:nvSpPr>
          <p:cNvPr id="32" name="Text 30"/>
          <p:cNvSpPr/>
          <p:nvPr>
            <p:custDataLst>
              <p:tags r:id="rId21"/>
            </p:custDataLst>
          </p:nvPr>
        </p:nvSpPr>
        <p:spPr>
          <a:xfrm>
            <a:off x="8445500" y="4902200"/>
            <a:ext cx="38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33" name="Text 31"/>
          <p:cNvSpPr/>
          <p:nvPr>
            <p:custDataLst>
              <p:tags r:id="rId22"/>
            </p:custDataLst>
          </p:nvPr>
        </p:nvSpPr>
        <p:spPr>
          <a:xfrm>
            <a:off x="8826500" y="4902200"/>
            <a:ext cx="6477000" cy="1295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2000" y="6604000"/>
            <a:ext cx="14732000" cy="2095500"/>
          </a:xfrm>
          <a:prstGeom prst="rect">
            <a:avLst/>
          </a:prstGeom>
          <a:solidFill>
            <a:srgbClr val="E8ECF0"/>
          </a:solidFill>
        </p:spPr>
      </p:sp>
      <p:sp>
        <p:nvSpPr>
          <p:cNvPr id="35" name="Shape 33"/>
          <p:cNvSpPr/>
          <p:nvPr/>
        </p:nvSpPr>
        <p:spPr>
          <a:xfrm>
            <a:off x="762000" y="6604000"/>
            <a:ext cx="50800" cy="20955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6" name="Text 34"/>
          <p:cNvSpPr/>
          <p:nvPr/>
        </p:nvSpPr>
        <p:spPr>
          <a:xfrm>
            <a:off x="1016000" y="6705600"/>
            <a:ext cx="14224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未来工作</a:t>
            </a: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扩展至论文的全部 3 个数据集，验证跨数据集的一致性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使用 Blahut-Arimoto 算法精确计算率失真函数，替代 k-means 近似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探索上下文嵌入（非静态）的典型性预测能力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扫描 β 参数的全范围，分析 L-β 曲线的系统差异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 / 33</a:t>
            </a:r>
            <a:endParaRPr lang="en-US" sz="1300" dirty="0"/>
          </a:p>
        </p:txBody>
      </p:sp>
      <p:sp>
        <p:nvSpPr>
          <p:cNvPr id="38" name="Text 31"/>
          <p:cNvSpPr/>
          <p:nvPr>
            <p:custDataLst>
              <p:tags r:id="rId23"/>
            </p:custDataLst>
          </p:nvPr>
        </p:nvSpPr>
        <p:spPr>
          <a:xfrm>
            <a:off x="1333500" y="4940300"/>
            <a:ext cx="6477000" cy="1295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DPI 视角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：根据 DPI，I(原始文本;类别标签) ≥ I(嵌入;类别标签) ≥ I(聚类;类别标签)。LLM AMI 普遍较低可能是因为原始嵌入本身含有的类标签信息有限。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E50"/>
          </a:solidFill>
        </p:spPr>
      </p:sp>
      <p:sp>
        <p:nvSpPr>
          <p:cNvPr id="3" name="Shape 1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27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50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评估指标与理论框架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38000" y="50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27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10" name="Shape 8"/>
          <p:cNvSpPr/>
          <p:nvPr/>
        </p:nvSpPr>
        <p:spPr>
          <a:xfrm>
            <a:off x="762000" y="1460500"/>
            <a:ext cx="14732000" cy="7048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1016000" y="1651000"/>
            <a:ext cx="14224000" cy="666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[1] Shani, I., et al. (2025). From Tokens to Thoughts: How LLMs and Humans Trade Compression for Meaning. </a:t>
            </a:r>
            <a:r>
              <a:rPr lang="en-US" sz="1400" i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arXiv:2505.17117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[2] Tishby, N., Pereira, F., &amp; Bialek, W. (2000). The Information Bottleneck Method. </a:t>
            </a:r>
            <a:r>
              <a:rPr lang="en-US" sz="1400" i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arXiv:physics/0004057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[3] Shannon, C. E. (1948). A Mathematical Theory of Communication. </a:t>
            </a:r>
            <a:r>
              <a:rPr lang="en-US" sz="1400" i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Bell System Technical Journal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27(3), 379-423.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[4] Rosch, E. (1973). On the internal structure of perceptual and semantic categories. </a:t>
            </a:r>
            <a:r>
              <a:rPr lang="en-US" sz="1400" i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Cognitive Development and the Acquisition of Language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[5] Rosch, E. (1975). Cognitive representations of semantic categories. </a:t>
            </a:r>
            <a:r>
              <a:rPr lang="en-US" sz="1400" i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Journal of Experimental Psychology: General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104(3), 192-233.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[6] McCloskey, M. E., &amp; Glucksberg, S. (1978). Natural categories: Well defined or fuzzy sets? </a:t>
            </a:r>
            <a:r>
              <a:rPr lang="en-US" sz="1400" i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&amp; Cognition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6(4), 462-472.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[7] Cover, T. M., &amp; Thomas, J. A. (2006). </a:t>
            </a:r>
            <a:r>
              <a:rPr lang="en-US" sz="1400" i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Elements of Information Theory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(2nd ed.). Wiley-Interscience.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[8] Vinh, N. X., Epps, J., &amp; Bailey, J. (2009). Information Theoretic Measures for Clusterings Comparison. </a:t>
            </a:r>
            <a:r>
              <a:rPr lang="en-US" sz="1400" i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JMLR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[9] Slonim, N., &amp; Tishby, N. (2000). Document clustering using word clusters via the Information Bottleneck method. </a:t>
            </a:r>
            <a:r>
              <a:rPr lang="en-US" sz="1400" i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SIGIR 2000</a:t>
            </a:r>
            <a:r>
              <a:rPr lang="en-US" sz="1400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/ 33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3302000"/>
            <a:ext cx="508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3" name="Text 1"/>
          <p:cNvSpPr/>
          <p:nvPr/>
        </p:nvSpPr>
        <p:spPr>
          <a:xfrm>
            <a:off x="3048000" y="3556000"/>
            <a:ext cx="1016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谢谢聆听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048000" y="4572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欢迎提问与讨论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588000" y="5334000"/>
            <a:ext cx="5080000" cy="25400"/>
          </a:xfrm>
          <a:prstGeom prst="rect">
            <a:avLst/>
          </a:prstGeom>
          <a:solidFill>
            <a:srgbClr val="B85450"/>
          </a:solidFill>
        </p:spPr>
      </p:sp>
      <p:sp>
        <p:nvSpPr>
          <p:cNvPr id="6" name="Text 4"/>
          <p:cNvSpPr/>
          <p:nvPr/>
        </p:nvSpPr>
        <p:spPr>
          <a:xfrm>
            <a:off x="3048000" y="5842000"/>
            <a:ext cx="1016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Based on: Shani et al. (2025). From Tokens to Thoughts. arXiv:2505.17117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2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3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4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5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6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7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8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9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10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11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12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13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14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15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16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17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18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19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20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21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22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ags/tag23.xml><?xml version="1.0" encoding="utf-8"?>
<p:tagLst xmlns:p="http://schemas.openxmlformats.org/presentationml/2006/main">
  <p:tag name="KSO_WM_DIAGRAM_VIRTUALLY_FRAME" val="{&quot;height&quot;:381,&quot;left&quot;:60,&quot;top&quot;:115,&quot;width&quot;:116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17566</Words>
  <Application>WPS 演示</Application>
  <PresentationFormat>On-screen Show (16:9)</PresentationFormat>
  <Paragraphs>1532</Paragraphs>
  <Slides>37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2" baseType="lpstr">
      <vt:lpstr>Arial</vt:lpstr>
      <vt:lpstr>宋体</vt:lpstr>
      <vt:lpstr>Wingdings</vt:lpstr>
      <vt:lpstr>Quattrocento Sans</vt:lpstr>
      <vt:lpstr>Quattrocento Sans</vt:lpstr>
      <vt:lpstr>Quattrocento Sans</vt:lpstr>
      <vt:lpstr>Calibri</vt:lpstr>
      <vt:lpstr>微软雅黑</vt:lpstr>
      <vt:lpstr>Arial Unicode MS</vt:lpstr>
      <vt:lpstr>等线</vt:lpstr>
      <vt:lpstr>MS PGothic</vt:lpstr>
      <vt:lpstr>Cambria Math</vt:lpstr>
      <vt:lpstr>Saturday Sans Regular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Tokens to Thoughts: 复现报告</dc:title>
  <dc:creator>Kimi</dc:creator>
  <dc:subject>From Tokens to Thoughts: 复现报告</dc:subject>
  <cp:lastModifiedBy>马文茵</cp:lastModifiedBy>
  <cp:revision>21</cp:revision>
  <dcterms:created xsi:type="dcterms:W3CDTF">2026-07-02T04:04:00Z</dcterms:created>
  <dcterms:modified xsi:type="dcterms:W3CDTF">2026-07-02T05:42:04Z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{"Label":"From Tokens to Thoughts: 复现报告","ContentProducer":"001191110108MACG2KBH8F10000","ProduceID":"19f1e95e-f382-8aa6-8000-00001205c4ed","ReservedCode1":"","ContentPropagator":"001191110108MACG2KBH8F20000","PropagateID":"19f19b12-5b32-8886-8000-09cbe9a43f8f","ReservedCode2":""}</vt:lpwstr>
  </property>
  <property fmtid="{D5CDD505-2E9C-101B-9397-08002B2CF9AE}" pid="3" name="ICV">
    <vt:lpwstr>EF74552C8BE94E84B23CED1D203961BB_13</vt:lpwstr>
  </property>
  <property fmtid="{D5CDD505-2E9C-101B-9397-08002B2CF9AE}" pid="4" name="KSOProductBuildVer">
    <vt:lpwstr>2052-12.1.0.26895</vt:lpwstr>
  </property>
</Properties>
</file>